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sldIdLst>
    <p:sldId id="258" r:id="rId5"/>
    <p:sldId id="315" r:id="rId6"/>
    <p:sldId id="317" r:id="rId7"/>
    <p:sldId id="318" r:id="rId8"/>
    <p:sldId id="319" r:id="rId9"/>
    <p:sldId id="321" r:id="rId10"/>
    <p:sldId id="320" r:id="rId11"/>
    <p:sldId id="301" r:id="rId12"/>
    <p:sldId id="295" r:id="rId13"/>
    <p:sldId id="303" r:id="rId14"/>
    <p:sldId id="302" r:id="rId15"/>
    <p:sldId id="304" r:id="rId16"/>
    <p:sldId id="305" r:id="rId17"/>
    <p:sldId id="308" r:id="rId18"/>
    <p:sldId id="307" r:id="rId19"/>
    <p:sldId id="310" r:id="rId20"/>
    <p:sldId id="309" r:id="rId21"/>
    <p:sldId id="312" r:id="rId22"/>
    <p:sldId id="311" r:id="rId23"/>
    <p:sldId id="313" r:id="rId24"/>
    <p:sldId id="314" r:id="rId25"/>
    <p:sldId id="316" r:id="rId26"/>
  </p:sldIdLst>
  <p:sldSz cx="12192000" cy="6858000"/>
  <p:notesSz cx="6858000" cy="9144000"/>
  <p:defaultTextStyle>
    <a:defPPr>
      <a:defRPr lang="en-US"/>
    </a:defPPr>
    <a:lvl1pPr marL="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7DC"/>
    <a:srgbClr val="F8F3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636" y="21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E0D2A8-8F95-47C2-ABE1-A779F5A43C98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663E2-27CE-4C79-91D3-7F5C4262D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559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4">
            <a:extLst>
              <a:ext uri="{FF2B5EF4-FFF2-40B4-BE49-F238E27FC236}">
                <a16:creationId xmlns:a16="http://schemas.microsoft.com/office/drawing/2014/main" id="{0C35C447-372A-2538-9C02-9DA22221296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CFF1AFD2-F993-B30A-2282-C04F1F65AF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2F13F474-91EA-0185-733B-62682BD9F6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87072C05-B626-BAF9-5316-96EAB02420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AC6EA6C6-1057-DAC8-2609-B6EB51B723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4E258757-AB3A-DE10-FDFE-35B9588E9C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74360D36-2B50-3114-9CB9-4BEE96BCCE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1B032D16-0F2B-1DEC-D92A-ACAF24C07B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13923343-4541-4792-ADC5-E6333E98D3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C53F61BD-18EB-B863-761D-89639D8806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>
                <a:solidFill>
                  <a:schemeClr val="accent1"/>
                </a:solidFill>
                <a:latin typeface="Imperial Sans Text Medium" panose="020B0603020202020204" pitchFamily="34" charset="0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3033340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4">
            <a:extLst>
              <a:ext uri="{FF2B5EF4-FFF2-40B4-BE49-F238E27FC236}">
                <a16:creationId xmlns:a16="http://schemas.microsoft.com/office/drawing/2014/main" id="{0C35C447-372A-2538-9C02-9DA22221296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CFF1AFD2-F993-B30A-2282-C04F1F65AF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2F13F474-91EA-0185-733B-62682BD9F6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87072C05-B626-BAF9-5316-96EAB02420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AC6EA6C6-1057-DAC8-2609-B6EB51B723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4E258757-AB3A-DE10-FDFE-35B9588E9C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74360D36-2B50-3114-9CB9-4BEE96BCCE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1B032D16-0F2B-1DEC-D92A-ACAF24C07B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13923343-4541-4792-ADC5-E6333E98D3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C53F61BD-18EB-B863-761D-89639D8806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>
                <a:solidFill>
                  <a:schemeClr val="accent1"/>
                </a:solidFill>
                <a:latin typeface="Imperial Sans Text Medium" panose="020B0603020202020204" pitchFamily="34" charset="0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726487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4">
            <a:extLst>
              <a:ext uri="{FF2B5EF4-FFF2-40B4-BE49-F238E27FC236}">
                <a16:creationId xmlns:a16="http://schemas.microsoft.com/office/drawing/2014/main" id="{0C35C447-372A-2538-9C02-9DA22221296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CFF1AFD2-F993-B30A-2282-C04F1F65AF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2F13F474-91EA-0185-733B-62682BD9F6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87072C05-B626-BAF9-5316-96EAB02420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AC6EA6C6-1057-DAC8-2609-B6EB51B723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4E258757-AB3A-DE10-FDFE-35B9588E9C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74360D36-2B50-3114-9CB9-4BEE96BCCE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1B032D16-0F2B-1DEC-D92A-ACAF24C07B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13923343-4541-4792-ADC5-E6333E98D3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C53F61BD-18EB-B863-761D-89639D8806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>
                <a:solidFill>
                  <a:schemeClr val="accent1"/>
                </a:solidFill>
                <a:latin typeface="Imperial Sans Text Medium" panose="020B0603020202020204" pitchFamily="34" charset="0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668972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0DA90-2FF2-F36C-F9FF-CD7A192F0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>
                <a:solidFill>
                  <a:schemeClr val="bg1"/>
                </a:solidFill>
                <a:latin typeface="Imperial Sans Text Medium" panose="020B0603020202020204" pitchFamily="34" charset="0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bg1"/>
                </a:solidFill>
              </a:defRPr>
            </a:lvl2pPr>
            <a:lvl3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714C7637-5E21-BDDB-D675-718E58535D6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A57B56D4-851E-7242-EAB1-CD5B53E8B9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25FF1F4-36F0-A184-7B99-8F5F4A49C89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F198715B-A90B-9B06-A055-401A84B092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9D2E04D5-A2EE-135D-A8C9-6E695F9BCF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8CE0DC1F-799B-3F7A-3A71-D20337A474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E8EAEE22-055F-6869-D50D-D9C8C9082F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EADAC67C-850F-96D3-0962-09E1B4CC3E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683187A0-2E68-170D-55EF-0FA20E7A75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62882915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98F30683-44FB-4995-47C3-43A7DE5523C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7A24E86-91AA-6A9B-314A-752B77481A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879B37A-F4A9-2DDA-3FC3-9FC52384AE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3DABC58-132F-2F2F-EB5B-78B30A3D44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DFE51362-844C-B4F1-1A83-A287F312E9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E0F57AAB-C462-6A3A-9686-048341EA78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A0D371A-82CE-1829-AA32-FB790C7A60A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A0DE082-4D8F-8158-56B4-AF85C4A0FA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530CFB56-59E9-38CF-519A-B532B32547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FB5434B5-DD4C-F988-6EBA-085A7DD494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1E34748E-CBEF-26E7-AB9F-696FA5D59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1DF2DBC8-2D33-BD84-A330-691C8B9797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>
                <a:solidFill>
                  <a:schemeClr val="bg1"/>
                </a:solidFill>
                <a:latin typeface="Imperial Sans Text Medium" panose="020B0603020202020204" pitchFamily="34" charset="0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bg1"/>
                </a:solidFill>
              </a:defRPr>
            </a:lvl2pPr>
            <a:lvl3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79999131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04A202D1-A4B9-7640-BE63-242C6AE4C2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B45A23E-3D3D-AF7F-01BF-5784746F80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90A1ED1E-980A-451C-4CE4-522D03C72F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08481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6BB52FF-CC93-F07E-EB4C-445727694E7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9204DF6-0166-5507-9752-8B25AAD000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06B55D6-112C-79DC-9667-D9B208F769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122023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17C0B1-7E7F-6954-F927-8008A9C1F12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13CAA8-84AC-A955-F269-263A1DC7ECC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9DBF49-796C-F78B-2FFC-D8A32E98954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4832032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238870"/>
            <a:ext cx="5163243" cy="3190130"/>
          </a:xfrm>
        </p:spPr>
        <p:txBody>
          <a:bodyPr/>
          <a:lstStyle>
            <a:lvl1pPr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819"/>
            <a:ext cx="5777508" cy="31011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C35426-417C-E41E-5A03-5974D3C79A08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43A0913-7510-B0A7-5B26-0BB8E2CFBF6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D47581C-992D-DC81-130F-D1BEAC60BD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Project LRC001 – Paul Kallarackel - 02029025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FDAAD86-8576-DDB6-A6D4-0005897A31D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161828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6E118E9-983A-6184-A8F0-A4019506A6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A0B4ABF-5A3C-E460-5671-E4528A63358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F3D2AE9-3A70-06E0-8083-9FE34A3AA6E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7466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Project LRC001 – Paul Kallarackel - 02029025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 dirty="0"/>
              <a:t> / X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8463841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EB0428-073D-255E-0603-B7A7BDAE543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7752697-E8FD-0586-13E9-34F98CC4439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DD791D6-292A-5644-5EE9-51301A01B4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526107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B95163B5-B861-BE6C-C9ED-294D52445C0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0C66614-41B9-C218-3CFE-CB9E1BF5F8C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731588F-786B-10A7-076E-365E9D20FD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035858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BA410BB3-2B89-7CC7-780C-44931EDCED3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22C44FD-9935-565B-51C4-07EDD751E4B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444669C-FC93-AF86-2973-9D9A24B58E2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019597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F2338AC-FED3-E963-2349-B4EB458244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F1E1644-B084-C0E8-390C-57D0FC246F4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2CA7376-EFA5-4209-2D04-0AD5DC20AE7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0747767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36B5CE4-BFEC-7FBE-6662-E2E9B988074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7217864-1AFD-F2DE-EF53-8B65EF1A78D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911236E-071F-DD2A-30DB-A2C60279A69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4756086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270FBB6-7E01-F747-7030-9F4677A5E20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EF870EC-4959-8866-140F-E80D89E7EEA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917FF23-1146-9B25-6617-F100014C23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66366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7D34D0E-4ACE-E4A9-E783-244C936867C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CBF335E-9AA0-9564-84EE-984B94AEB64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0510A3F-233D-9380-ABAA-22F043FD57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6248034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AE11B2C-78CA-610C-6E36-01DD97CED03D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8EBB53A4-31B2-837A-2CD9-C6FE58E3BED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05AD4B1-DD50-BC34-C52A-5DC8F0DD9A0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706673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0A92CBF-CFCF-C6E6-4DD9-C6DEE72D09B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40DFF5A-2AC4-2FF4-1C69-99D1E2DB751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7F134F8-B49C-1B56-492C-DC1AD9D3D9D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0980370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9B53072D-8985-0325-CAC1-74420708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A30737-1F37-A87B-AA9B-CA743D16A661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3C07737C-424A-644B-3C26-525F7BA5236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EB71933-433D-E18A-0EEE-985736944A4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4231540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981B8B8-CA45-1A66-F977-8C1E16598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6E75D07-E67B-A9A3-C02D-7B968ED46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217419C-40FE-F91F-2953-B52FA51E9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934480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49BBFB2-19E9-88C4-65CE-D6E6256E3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CC6683C-5A91-794D-D5F3-FF99653CC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2C1A50E-1824-DC74-17BB-731EC40E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475397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6419645-DD65-FB3C-2BCA-109AF57D6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514B54E-4B60-6946-131E-48548799E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EF8CF5-3AAE-8D1E-BBB4-C8FABBF72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8019243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025"/>
            <a:ext cx="9984000" cy="5934075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A8D6E0-472D-9B14-F3A6-BC2F23E87040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0982528-ED0E-B4CA-A9B6-4B20FA97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7B92FD-2D19-A228-9CF5-A8F8BB33A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6D6CE8-E81B-E6F1-72B3-0337EEBCD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7749574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5A24D7B-41EB-9794-42AE-564F6680E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4EAC6AD-293C-6C12-F9F6-48F5FCB0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75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9E03E9-2E15-D686-0F71-06E46D832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2B9059-3731-6151-FF84-5553FCD5B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B50735-A545-BB9F-EDE5-5E90F2D76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3696074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5A24D7B-41EB-9794-42AE-564F6680E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4EAC6AD-293C-6C12-F9F6-48F5FCB0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75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FA79ED-CACF-8795-9805-15F33F438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8FAFD3-CAE5-5291-59F1-1C42123E0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5E3A83-6C61-487B-2AC2-E07D8E671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9257883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A24D7B-41EB-9794-42AE-564F6680E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4EAC6AD-293C-6C12-F9F6-48F5FCB0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75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6803618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1609BCD-EF9A-DF89-AAD2-167090C57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B66839-73D5-9FB3-DB9B-3542FD569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C9A17A-3138-FDFB-0508-05AE79738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0E00BB4-E181-43DD-F708-410A436C1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3995235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8FFC52-1BBF-F67C-0106-4487B17A910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BE004C-5906-6391-631E-DFC533EAC1F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3825B5A-868F-8751-7807-B6DE7315D52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9635899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A38C81-D67D-BFD5-C6D9-22BF9FFD97D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CF8DE5-0134-9A2C-FDA5-3ACF22FBA6D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3B3D2DA-AAF5-FB54-A756-8860F40692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6395976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8D9C4F-68B7-7964-0BEE-8CF3646B7C61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90F332-0F5B-5229-2B85-9F064FDF26C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3AC3B21-8395-C1F0-CA0C-B005D390856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3322227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B50194-FD5A-F6E5-0FFE-E7C91B06D90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D7905-FD61-CAFD-C77E-DDA12871413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48C676F-6003-49FC-40BB-3B27C308700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5065361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B07CE3-61A4-9879-9BCC-15DA62A27566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40DD7-CF29-EA2E-1348-92A31D1FB1F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2815C1D-BE5A-79AF-8596-DA89BD929A7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3569060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F3C306-BC37-6090-2CAD-6C5D6E4566B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78BA0-5779-12DB-B955-8E42297D290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75C8531-C05E-63EF-FB48-2E82EC6A668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3226118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10A0DD8F-27EB-AEAF-3B99-94593C17503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6B5A68F-2B85-5492-2A7F-9BEBEA9A079A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BB48791-A869-86F5-0819-A87269CE355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0704966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1373F9F1-22A7-7ED0-5FC4-847D9539D622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D7E3FBA5-A0D9-54A0-B9D0-7DB817E3D946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701D3FA-7A33-DEFC-9B00-FF3AD72A3E2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8784684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E6E9283C-C232-E087-63BC-08285178996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3050883F-B378-2E63-3923-B8762B443B8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C244142-9CD8-E7B9-9723-BF59350908E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1354154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197282-FB56-29E1-A750-42482B59FF6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C0E831B-4DE5-5F84-F4E5-CEB35897BF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5544FC-DB91-F992-78C0-8FD5ED1E341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9553058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E49CF4-E125-D917-FC4B-587DCEBC24AA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92E05C4-B444-65EC-7B57-AC5311423ED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BDE6A64-5594-2FB7-8CDF-E95335634D8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0183430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949F88-61A6-D8E7-29E1-E6F78E8D3616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CCEEDF6-82E0-0E86-B1A5-294545A8BB7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48FD806-EE9E-D87A-BE6F-B3D8B9C67F8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4509294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4E2D15-23F5-149A-30AE-5397C97F404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44F386A-DBA7-61B6-554F-83AF26108F2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590EE48-AD8F-52CD-AC89-A2E3BCCF061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5877609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E8E05A-B87E-3BB3-D156-5E144FA6F9F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BE0AA13-96B4-7519-3AB2-0045C4FF403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22EEA79-02E5-A5A8-BA2D-ECEA63B195D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0842164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B2E939-97C7-7790-09BF-AC83B28220DA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D809A66-E9E9-DD83-DBE6-2BB6B669212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D8E999-D5C7-9A58-59B8-15EA189A252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2778189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EEE5371-FE3A-7739-D4CF-D746BFC0431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28C694-9E27-861B-E7C2-B5B7EA87F41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91598B-C40D-A239-27EF-A2D2C775BE8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6752833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694141-8160-F555-B4F5-A1D4C940960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886CC0-380A-9C20-172D-8A626A09DD8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45132F-41AC-8782-EEE3-0FEFECDA8E1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5991555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405E93D-99E5-31EA-7551-A812B9620E43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5DA575-9EAC-BDC1-54BD-3FC3A3D2DEC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CAA9D9-57A8-D2AD-175C-0089C8DEAEE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9685012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"/>
            <a:ext cx="12193489" cy="685799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0433404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98C9DEC1-150C-501B-2DF1-6E2CB499B66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  <a:solidFill>
            <a:schemeClr val="accent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39A89AD-BEB6-79FD-8F05-4DF88E68FE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733ED1C0-423D-3BA1-7D76-5AD063DB49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4321CB6-88B2-41D3-45AD-465FCCF9FF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8DF50ED-77B5-2CCB-445E-BE59A74640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E46F43E-7289-80AB-2776-B413EE27ED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0C82D5C3-8445-8837-27CE-3B93EA4FA45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D962E7C-3E08-D166-19E4-74C4922787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F4041540-D57A-59CB-04E7-A52B58E1F1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148999050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98C9DEC1-150C-501B-2DF1-6E2CB499B66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  <a:solidFill>
            <a:schemeClr val="accent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39A89AD-BEB6-79FD-8F05-4DF88E68FE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733ED1C0-423D-3BA1-7D76-5AD063DB49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4321CB6-88B2-41D3-45AD-465FCCF9FF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8DF50ED-77B5-2CCB-445E-BE59A74640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E46F43E-7289-80AB-2776-B413EE27ED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0C82D5C3-8445-8837-27CE-3B93EA4FA45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D962E7C-3E08-D166-19E4-74C4922787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F4041540-D57A-59CB-04E7-A52B58E1F1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658548261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98C9DEC1-150C-501B-2DF1-6E2CB499B66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  <a:solidFill>
            <a:schemeClr val="accent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39A89AD-BEB6-79FD-8F05-4DF88E68FE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733ED1C0-423D-3BA1-7D76-5AD063DB49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4321CB6-88B2-41D3-45AD-465FCCF9FF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8DF50ED-77B5-2CCB-445E-BE59A74640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E46F43E-7289-80AB-2776-B413EE27ED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0C82D5C3-8445-8837-27CE-3B93EA4FA45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D962E7C-3E08-D166-19E4-74C4922787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F4041540-D57A-59CB-04E7-A52B58E1F1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211696665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8F1E4B3C-5470-00F2-B8CB-BB4906CF439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7D7A316D-6FA6-8EBE-A7B4-43071E70A8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11C06CEA-028D-9197-2DEF-67878595AE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DEA93E8D-A827-0EF8-FC25-4EDF7B194E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DF359F29-A6DD-FD4C-F807-701DEA41EDF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2468BF6B-AEBB-4CAA-244D-9EBE80B9A1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CC60AC05-547F-FA65-604E-4ED4912EA9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7632E58E-1400-1E6E-BB60-7A9B794F41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4D65D159-581D-F29B-BBD4-C1C5BACCEE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4250105972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Image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3A87AD45-2D2F-D96C-947C-BAE35BFEBEE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31EDC35F-4F2D-B2A7-1ECD-0CF19D1AD2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97F4776F-4E5E-13DF-F11A-A6808FFFC9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BA993AE1-6A24-5C17-7FE2-A16589D9C4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DA87F8EF-CDAD-15A2-A361-88921E1CAF7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E90186DB-2300-A8AA-8FAD-2C609649A6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31922286-E237-1114-3A54-E1731611D6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1B4DA78C-0EF6-B05D-F2D2-EFEDA343E3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A00F92FE-6EB2-0D0E-BFC9-559AD1E7A4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216125896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90130"/>
            <a:ext cx="5606484" cy="740845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  <a:latin typeface="Imperial Sans Text Medium" panose="020B0603020202020204" pitchFamily="34" charset="0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B9815FA8-AE01-67BC-5B0D-996D4CDAD19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B1AA775-4CCE-276F-2BCF-CDB5A9211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0FDD9D0-D471-8D20-94AE-C3BC73F88F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CD6C2A08-9069-9582-5D59-A51210F8CB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10C2D08-4FE4-C1FC-5226-E7A45B13D6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010D1AF-A77E-06AA-9B05-D1DD5EE830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98B53AE0-4719-5655-6BA0-0E7E9ECB8E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AD6D1E9-D44F-9A59-4CB4-033C25A77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F58ED361-0E2C-77F6-2830-FBB60D7464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761819100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90130"/>
            <a:ext cx="5606484" cy="740845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  <a:latin typeface="Imperial Sans Text Medium" panose="020B0603020202020204" pitchFamily="34" charset="0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B9815FA8-AE01-67BC-5B0D-996D4CDAD19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B1AA775-4CCE-276F-2BCF-CDB5A9211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0FDD9D0-D471-8D20-94AE-C3BC73F88F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CD6C2A08-9069-9582-5D59-A51210F8CB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10C2D08-4FE4-C1FC-5226-E7A45B13D6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010D1AF-A77E-06AA-9B05-D1DD5EE830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98B53AE0-4719-5655-6BA0-0E7E9ECB8E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AD6D1E9-D44F-9A59-4CB4-033C25A77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F58ED361-0E2C-77F6-2830-FBB60D7464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2408184500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90130"/>
            <a:ext cx="5606484" cy="740845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  <a:latin typeface="Imperial Sans Text Medium" panose="020B0603020202020204" pitchFamily="34" charset="0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B9815FA8-AE01-67BC-5B0D-996D4CDAD19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B1AA775-4CCE-276F-2BCF-CDB5A9211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0FDD9D0-D471-8D20-94AE-C3BC73F88F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CD6C2A08-9069-9582-5D59-A51210F8CB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10C2D08-4FE4-C1FC-5226-E7A45B13D6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010D1AF-A77E-06AA-9B05-D1DD5EE830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98B53AE0-4719-5655-6BA0-0E7E9ECB8E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AD6D1E9-D44F-9A59-4CB4-033C25A77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F58ED361-0E2C-77F6-2830-FBB60D7464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595170055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878288"/>
            <a:ext cx="5606484" cy="652688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  <a:latin typeface="Imperial Sans Text Medium" panose="020B0603020202020204" pitchFamily="34" charset="0"/>
                <a:ea typeface="Inter Medium" panose="0200050300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49CC1682-CCAA-5EE1-585E-F7C4434F1C5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770403FB-3386-A0FE-3E9D-A2925EF0E8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C2CDC1DE-179E-04D4-B493-BF069DE85D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B9A68412-C85B-6332-8B98-2635795BBA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9ECB875-34C4-65FF-6CDA-1356F6BC76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D3B5B848-7A8D-931B-DFC2-C5B37B8DB6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361AABDF-9542-DBC6-6388-ABE2035BE7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57C10C3-A39D-D1F6-3C50-91EC9A5E76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E4DD9B4A-92B0-0B9A-755B-A13B032A85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3000926829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A21C963-6CF2-9760-7F75-DB20AA4126C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B78243-6DA3-02B2-DAFC-CAA57539215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ED9601-8448-53B3-4043-F3515F9E1A5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1818251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9762458-4588-D1A5-E839-5A35F5F2717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690542-602A-048E-DD16-4607078EDA3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2A65E2-B29C-ADFA-17CB-B26C0AAEE84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7015067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0350EC4-9AC3-6724-CAD5-75107F3DE4F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410BC1-F959-80A7-1B21-2A4BCB0C2C6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9CF22-0534-06A6-D932-24AD08A9ECD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909866"/>
      </p:ext>
    </p:extLst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B3755-3ABA-419D-0EDF-B2F3AF616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75C78-C1E5-FE97-F613-06DF50945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93C2-6A05-A994-99DB-4F7ABF69D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4464979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4274CA-C7BA-C222-BD08-1DA6E6537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BBCA8-48D2-110D-BC25-4625DC2FB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9D36F-F361-EC55-524E-00B1EC5D5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7168227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18FC4-080B-F50F-F3A9-6C8EFDFE7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2F555-CB50-A198-502D-DE71CF732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B31DD-3F3F-6EDB-42C1-EB853564C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811291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0F4440-CEDC-0D92-E0D5-5C1E3B59B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A021F-8558-9528-DA3D-486CCDBEB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6232" y="1394619"/>
            <a:ext cx="11541025" cy="48664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1A8F0-AC4B-E4A0-94D0-99C4BFD97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50">
                <a:solidFill>
                  <a:schemeClr val="accent1"/>
                </a:solidFill>
              </a:defRPr>
            </a:lvl1pPr>
          </a:lstStyle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0FC7A-298A-77A0-6596-56B0B3FD8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85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Project LRC001 – Paul Kallarackel - 02029025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17C40-7EB7-0CFD-6F6C-54AE57DE1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>
              <a:defRPr sz="850" b="1">
                <a:solidFill>
                  <a:schemeClr val="accent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r>
              <a:rPr lang="en-GB" dirty="0"/>
              <a:t> / X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6CDD9-97E9-735B-8549-0F3AE3CCAC58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accent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114508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79" r:id="rId2"/>
    <p:sldLayoutId id="2147483680" r:id="rId3"/>
    <p:sldLayoutId id="2147483649" r:id="rId4"/>
    <p:sldLayoutId id="2147483657" r:id="rId5"/>
    <p:sldLayoutId id="2147483658" r:id="rId6"/>
    <p:sldLayoutId id="2147483681" r:id="rId7"/>
    <p:sldLayoutId id="2147483682" r:id="rId8"/>
    <p:sldLayoutId id="2147483675" r:id="rId9"/>
    <p:sldLayoutId id="2147483650" r:id="rId10"/>
    <p:sldLayoutId id="2147483683" r:id="rId11"/>
    <p:sldLayoutId id="2147483684" r:id="rId12"/>
    <p:sldLayoutId id="2147483652" r:id="rId13"/>
    <p:sldLayoutId id="2147483685" r:id="rId14"/>
    <p:sldLayoutId id="2147483686" r:id="rId15"/>
    <p:sldLayoutId id="2147483659" r:id="rId16"/>
    <p:sldLayoutId id="2147483687" r:id="rId17"/>
    <p:sldLayoutId id="2147483688" r:id="rId18"/>
    <p:sldLayoutId id="2147483660" r:id="rId19"/>
    <p:sldLayoutId id="2147483689" r:id="rId20"/>
    <p:sldLayoutId id="2147483690" r:id="rId21"/>
    <p:sldLayoutId id="2147483677" r:id="rId22"/>
    <p:sldLayoutId id="2147483691" r:id="rId23"/>
    <p:sldLayoutId id="2147483692" r:id="rId24"/>
    <p:sldLayoutId id="2147483676" r:id="rId25"/>
    <p:sldLayoutId id="2147483667" r:id="rId26"/>
    <p:sldLayoutId id="2147483693" r:id="rId27"/>
    <p:sldLayoutId id="2147483694" r:id="rId28"/>
    <p:sldLayoutId id="2147483666" r:id="rId29"/>
    <p:sldLayoutId id="2147483661" r:id="rId30"/>
    <p:sldLayoutId id="2147483695" r:id="rId31"/>
    <p:sldLayoutId id="2147483696" r:id="rId32"/>
    <p:sldLayoutId id="2147483669" r:id="rId33"/>
    <p:sldLayoutId id="2147483697" r:id="rId34"/>
    <p:sldLayoutId id="2147483698" r:id="rId35"/>
    <p:sldLayoutId id="2147483678" r:id="rId36"/>
    <p:sldLayoutId id="2147483699" r:id="rId37"/>
    <p:sldLayoutId id="2147483700" r:id="rId38"/>
    <p:sldLayoutId id="2147483662" r:id="rId39"/>
    <p:sldLayoutId id="2147483701" r:id="rId40"/>
    <p:sldLayoutId id="2147483702" r:id="rId41"/>
    <p:sldLayoutId id="2147483663" r:id="rId42"/>
    <p:sldLayoutId id="2147483703" r:id="rId43"/>
    <p:sldLayoutId id="2147483704" r:id="rId44"/>
    <p:sldLayoutId id="2147483664" r:id="rId45"/>
    <p:sldLayoutId id="2147483705" r:id="rId46"/>
    <p:sldLayoutId id="2147483706" r:id="rId47"/>
    <p:sldLayoutId id="2147483665" r:id="rId48"/>
    <p:sldLayoutId id="2147483671" r:id="rId49"/>
    <p:sldLayoutId id="2147483707" r:id="rId50"/>
    <p:sldLayoutId id="2147483708" r:id="rId51"/>
    <p:sldLayoutId id="2147483670" r:id="rId52"/>
    <p:sldLayoutId id="2147483672" r:id="rId53"/>
    <p:sldLayoutId id="2147483674" r:id="rId54"/>
    <p:sldLayoutId id="2147483709" r:id="rId55"/>
    <p:sldLayoutId id="2147483710" r:id="rId56"/>
    <p:sldLayoutId id="2147483673" r:id="rId57"/>
    <p:sldLayoutId id="2147483654" r:id="rId58"/>
    <p:sldLayoutId id="2147483711" r:id="rId59"/>
    <p:sldLayoutId id="2147483712" r:id="rId60"/>
    <p:sldLayoutId id="2147483655" r:id="rId61"/>
    <p:sldLayoutId id="2147483713" r:id="rId62"/>
    <p:sldLayoutId id="2147483714" r:id="rId63"/>
  </p:sldLayoutIdLst>
  <p:transition>
    <p:fade/>
  </p:transition>
  <p:hf hdr="0"/>
  <p:txStyles>
    <p:titleStyle>
      <a:lvl1pPr algn="l" defTabSz="685765" rtl="0" eaLnBrk="1" latinLnBrk="0" hangingPunct="1">
        <a:lnSpc>
          <a:spcPct val="90000"/>
        </a:lnSpc>
        <a:spcBef>
          <a:spcPct val="0"/>
        </a:spcBef>
        <a:buNone/>
        <a:defRPr sz="2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161991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323984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485975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3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6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18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1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7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206" userDrawn="1">
          <p15:clr>
            <a:srgbClr val="F26B43"/>
          </p15:clr>
        </p15:guide>
        <p15:guide id="4" pos="7475" userDrawn="1">
          <p15:clr>
            <a:srgbClr val="F26B43"/>
          </p15:clr>
        </p15:guide>
        <p15:guide id="5" orient="horz" pos="207" userDrawn="1">
          <p15:clr>
            <a:srgbClr val="F26B43"/>
          </p15:clr>
        </p15:guide>
        <p15:guide id="6" orient="horz" pos="4114" userDrawn="1">
          <p15:clr>
            <a:srgbClr val="F26B43"/>
          </p15:clr>
        </p15:guide>
        <p15:guide id="7" orient="horz" pos="3944" userDrawn="1">
          <p15:clr>
            <a:srgbClr val="F26B43"/>
          </p15:clr>
        </p15:guide>
        <p15:guide id="8" orient="horz" pos="879" userDrawn="1">
          <p15:clr>
            <a:srgbClr val="F26B43"/>
          </p15:clr>
        </p15:guide>
        <p15:guide id="9" pos="3723" userDrawn="1">
          <p15:clr>
            <a:srgbClr val="F26B43"/>
          </p15:clr>
        </p15:guide>
        <p15:guide id="10" pos="395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7CC57-32B4-5651-C726-27956387C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80337-D626-AC7B-5E8D-3144BB486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918580"/>
            <a:ext cx="9144000" cy="1847942"/>
          </a:xfrm>
        </p:spPr>
        <p:txBody>
          <a:bodyPr/>
          <a:lstStyle/>
          <a:p>
            <a:r>
              <a:rPr lang="en-GB" b="1" dirty="0"/>
              <a:t>FYP Interim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7FCD95-DD6E-BAAA-DD32-3D1E187DA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2766521"/>
            <a:ext cx="11111656" cy="2497241"/>
          </a:xfrm>
        </p:spPr>
        <p:txBody>
          <a:bodyPr/>
          <a:lstStyle/>
          <a:p>
            <a:r>
              <a:rPr lang="en-US" i="1" dirty="0"/>
              <a:t>Leveraging Low-Precision Hardware for High-Fidelity CFD: Integrating the Ozaki Scheme into Nektar++</a:t>
            </a:r>
            <a:endParaRPr lang="en-GB" i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7ADEF3F-453F-A867-067C-B77BAD4676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Paul Kallarackel</a:t>
            </a:r>
          </a:p>
          <a:p>
            <a:r>
              <a:rPr lang="en-US" dirty="0"/>
              <a:t>11/03/2026</a:t>
            </a:r>
          </a:p>
        </p:txBody>
      </p:sp>
    </p:spTree>
    <p:extLst>
      <p:ext uri="{BB962C8B-B14F-4D97-AF65-F5344CB8AC3E}">
        <p14:creationId xmlns:p14="http://schemas.microsoft.com/office/powerpoint/2010/main" val="303511597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45CB2-81C5-3EE7-321B-A2B8C7FBD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848C7-AE88-7A1C-CEE4-0C884BD75FA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C85C3-43A0-A973-4FE1-CB49A89998D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7C08A-2D18-B4E2-06F7-E29587BE07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2</a:t>
            </a:fld>
            <a:r>
              <a:rPr lang="en-GB"/>
              <a:t> / X </a:t>
            </a:r>
            <a:endParaRPr lang="en-GB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9FEF6DE1-F132-58F9-E0B0-CB2D0E615B2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093536553"/>
              </p:ext>
            </p:extLst>
          </p:nvPr>
        </p:nvGraphicFramePr>
        <p:xfrm>
          <a:off x="6096000" y="328613"/>
          <a:ext cx="5776912" cy="122809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13797">
                  <a:extLst>
                    <a:ext uri="{9D8B030D-6E8A-4147-A177-3AD203B41FA5}">
                      <a16:colId xmlns:a16="http://schemas.microsoft.com/office/drawing/2014/main" val="2312058624"/>
                    </a:ext>
                  </a:extLst>
                </a:gridCol>
                <a:gridCol w="5163115">
                  <a:extLst>
                    <a:ext uri="{9D8B030D-6E8A-4147-A177-3AD203B41FA5}">
                      <a16:colId xmlns:a16="http://schemas.microsoft.com/office/drawing/2014/main" val="2529335587"/>
                    </a:ext>
                  </a:extLst>
                </a:gridCol>
              </a:tblGrid>
              <a:tr h="24066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lang="en-US" sz="1600" b="1" dirty="0">
                          <a:solidFill>
                            <a:srgbClr val="0000CD"/>
                          </a:solidFill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lang="en-US" sz="1600" dirty="0">
                          <a:solidFill>
                            <a:srgbClr val="0000CD"/>
                          </a:solidFill>
                          <a:latin typeface="Inter Medium" panose="02000503000000020004" pitchFamily="2" charset="0"/>
                          <a:ea typeface="Inter Medium" panose="02000503000000020004" pitchFamily="2" charset="0"/>
                        </a:rPr>
                        <a:t>Background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13600567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lang="en-US" sz="1600" b="1" dirty="0">
                          <a:solidFill>
                            <a:srgbClr val="0000CD"/>
                          </a:solidFill>
                        </a:rPr>
                        <a:t>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lang="en-US" sz="1600" dirty="0">
                          <a:solidFill>
                            <a:srgbClr val="0000CD"/>
                          </a:solidFill>
                          <a:latin typeface="Inter Medium" panose="02000503000000020004" pitchFamily="2" charset="0"/>
                          <a:ea typeface="Inter Medium" panose="02000503000000020004" pitchFamily="2" charset="0"/>
                        </a:rPr>
                        <a:t>Project Aims &amp; Objectives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77395039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lang="en-US" sz="1600" b="1" dirty="0">
                          <a:solidFill>
                            <a:srgbClr val="0000CD"/>
                          </a:solidFill>
                        </a:rPr>
                        <a:t>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lang="en-US" sz="1600" dirty="0">
                          <a:solidFill>
                            <a:srgbClr val="0000CD"/>
                          </a:solidFill>
                          <a:latin typeface="Inter Medium" panose="02000503000000020004" pitchFamily="2" charset="0"/>
                          <a:ea typeface="Inter Medium" panose="02000503000000020004" pitchFamily="2" charset="0"/>
                        </a:rPr>
                        <a:t>Progress to Date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19643445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lang="en-US" sz="1600" b="1" dirty="0">
                          <a:solidFill>
                            <a:srgbClr val="0000CD"/>
                          </a:solidFill>
                        </a:rPr>
                        <a:t>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lang="en-US" sz="1600" dirty="0">
                          <a:solidFill>
                            <a:srgbClr val="0000CD"/>
                          </a:solidFill>
                          <a:latin typeface="Inter Medium" panose="02000503000000020004" pitchFamily="2" charset="0"/>
                          <a:ea typeface="Inter Medium" panose="02000503000000020004" pitchFamily="2" charset="0"/>
                        </a:rPr>
                        <a:t>Plan for Remainder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13601940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lang="en-US" sz="1600" b="1" dirty="0">
                          <a:solidFill>
                            <a:srgbClr val="0000CD"/>
                          </a:solidFill>
                        </a:rPr>
                        <a:t>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lang="en-US" sz="1600" dirty="0">
                          <a:solidFill>
                            <a:srgbClr val="0000CD"/>
                          </a:solidFill>
                          <a:latin typeface="Inter Medium" panose="02000503000000020004" pitchFamily="2" charset="0"/>
                          <a:ea typeface="Inter Medium" panose="02000503000000020004" pitchFamily="2" charset="0"/>
                        </a:rPr>
                        <a:t>Summary &amp; Conclusion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37709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901638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3B8F2-5122-1E62-A7BB-02E4DBEE4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3D817-A3F4-7A8A-628E-5493D0F6335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F0EC9-BF08-6EBA-E5D3-98F32FA1D33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0E595-CB5F-CBC7-7AEF-CB58E887B90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3</a:t>
            </a:fld>
            <a:r>
              <a:rPr lang="en-GB"/>
              <a:t> / X </a:t>
            </a:r>
            <a:endParaRPr lang="en-GB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B878550-26B4-0548-BAAC-723827229FEB}"/>
              </a:ext>
            </a:extLst>
          </p:cNvPr>
          <p:cNvSpPr/>
          <p:nvPr/>
        </p:nvSpPr>
        <p:spPr>
          <a:xfrm>
            <a:off x="0" y="0"/>
            <a:ext cx="4682067" cy="540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16000" bIns="0"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1. Background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98AB20E-C593-D771-3ADE-F3598253E88A}"/>
              </a:ext>
            </a:extLst>
          </p:cNvPr>
          <p:cNvSpPr/>
          <p:nvPr/>
        </p:nvSpPr>
        <p:spPr>
          <a:xfrm>
            <a:off x="4680425" y="-1"/>
            <a:ext cx="1872000" cy="54000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2. Objectives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D7C6EE1-854D-7F5C-EF32-3512530801E7}"/>
              </a:ext>
            </a:extLst>
          </p:cNvPr>
          <p:cNvSpPr/>
          <p:nvPr/>
        </p:nvSpPr>
        <p:spPr>
          <a:xfrm>
            <a:off x="6560283" y="-1"/>
            <a:ext cx="1872000" cy="54000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3. Progress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01BA4E9-0F84-0933-6027-136AA1A92224}"/>
              </a:ext>
            </a:extLst>
          </p:cNvPr>
          <p:cNvSpPr/>
          <p:nvPr/>
        </p:nvSpPr>
        <p:spPr>
          <a:xfrm>
            <a:off x="8440141" y="-1"/>
            <a:ext cx="1872000" cy="54000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4. Plan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65AC69C-7307-90BC-609D-B9324050CD03}"/>
              </a:ext>
            </a:extLst>
          </p:cNvPr>
          <p:cNvSpPr/>
          <p:nvPr/>
        </p:nvSpPr>
        <p:spPr>
          <a:xfrm>
            <a:off x="10320000" y="-1"/>
            <a:ext cx="1872000" cy="54000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5. Summary</a:t>
            </a:r>
          </a:p>
        </p:txBody>
      </p:sp>
    </p:spTree>
    <p:extLst>
      <p:ext uri="{BB962C8B-B14F-4D97-AF65-F5344CB8AC3E}">
        <p14:creationId xmlns:p14="http://schemas.microsoft.com/office/powerpoint/2010/main" val="74057092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CBD19-48B3-5EA5-D0E5-18366CD3D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E018D-3A27-3E18-89B5-19675EEC882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3C9FD-3AA2-907D-75C6-9537467C49D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C8FA5-73CE-4EDF-1584-2C61D58238D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4</a:t>
            </a:fld>
            <a:r>
              <a:rPr lang="en-GB"/>
              <a:t> / X </a:t>
            </a:r>
            <a:endParaRPr lang="en-GB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7FEEAA0-3F57-96F1-D8FF-0261AEC7A033}"/>
              </a:ext>
            </a:extLst>
          </p:cNvPr>
          <p:cNvSpPr/>
          <p:nvPr/>
        </p:nvSpPr>
        <p:spPr>
          <a:xfrm>
            <a:off x="0" y="0"/>
            <a:ext cx="1872000" cy="540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16000" bIns="0"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1. Background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AEE035F-BF73-2EFE-BCE5-32E55C662C7D}"/>
              </a:ext>
            </a:extLst>
          </p:cNvPr>
          <p:cNvSpPr/>
          <p:nvPr/>
        </p:nvSpPr>
        <p:spPr>
          <a:xfrm>
            <a:off x="1879858" y="-2"/>
            <a:ext cx="4683600" cy="540001"/>
          </a:xfrm>
          <a:prstGeom prst="roundRect">
            <a:avLst/>
          </a:prstGeom>
          <a:solidFill>
            <a:schemeClr val="accent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2. Objectives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317AAD8-1EF6-C8E8-7569-E8CFB1B51EDB}"/>
              </a:ext>
            </a:extLst>
          </p:cNvPr>
          <p:cNvSpPr/>
          <p:nvPr/>
        </p:nvSpPr>
        <p:spPr>
          <a:xfrm>
            <a:off x="6560283" y="-1"/>
            <a:ext cx="1872000" cy="54000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3. Progress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3299552-8C02-D339-450E-CC1D96EC67A0}"/>
              </a:ext>
            </a:extLst>
          </p:cNvPr>
          <p:cNvSpPr/>
          <p:nvPr/>
        </p:nvSpPr>
        <p:spPr>
          <a:xfrm>
            <a:off x="8440141" y="-1"/>
            <a:ext cx="1872000" cy="54000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4. Plan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674A1A8-9667-F412-6D40-D8BFD2C8625E}"/>
              </a:ext>
            </a:extLst>
          </p:cNvPr>
          <p:cNvSpPr/>
          <p:nvPr/>
        </p:nvSpPr>
        <p:spPr>
          <a:xfrm>
            <a:off x="10320000" y="-1"/>
            <a:ext cx="1872000" cy="54000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5. Summary</a:t>
            </a:r>
          </a:p>
        </p:txBody>
      </p:sp>
    </p:spTree>
    <p:extLst>
      <p:ext uri="{BB962C8B-B14F-4D97-AF65-F5344CB8AC3E}">
        <p14:creationId xmlns:p14="http://schemas.microsoft.com/office/powerpoint/2010/main" val="247067469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A06AB-4695-8BF5-B2B2-6CEB7E04E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CAD6F-0F41-50B6-EE02-75EFFF2E15A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3096F-9019-E64B-B671-A69D3DDE30A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D56C4-8EA4-620B-25F2-6DB7992768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5</a:t>
            </a:fld>
            <a:r>
              <a:rPr lang="en-GB"/>
              <a:t> / X </a:t>
            </a:r>
            <a:endParaRPr lang="en-GB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F2DE270-8785-40D7-2F97-83AD050D1EC4}"/>
              </a:ext>
            </a:extLst>
          </p:cNvPr>
          <p:cNvSpPr/>
          <p:nvPr/>
        </p:nvSpPr>
        <p:spPr>
          <a:xfrm>
            <a:off x="0" y="0"/>
            <a:ext cx="1872000" cy="540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16000" bIns="0"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1. Background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975D6F1-D1D0-552A-D9D5-A074170108C1}"/>
              </a:ext>
            </a:extLst>
          </p:cNvPr>
          <p:cNvSpPr/>
          <p:nvPr/>
        </p:nvSpPr>
        <p:spPr>
          <a:xfrm>
            <a:off x="1877100" y="-2"/>
            <a:ext cx="1872000" cy="54000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2. Objectives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2F64457-6FC8-A38F-B4FA-9A5807C64FA2}"/>
              </a:ext>
            </a:extLst>
          </p:cNvPr>
          <p:cNvSpPr/>
          <p:nvPr/>
        </p:nvSpPr>
        <p:spPr>
          <a:xfrm>
            <a:off x="3754200" y="-1"/>
            <a:ext cx="4683600" cy="540001"/>
          </a:xfrm>
          <a:prstGeom prst="roundRect">
            <a:avLst/>
          </a:prstGeom>
          <a:solidFill>
            <a:schemeClr val="accent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3. Progress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6E6FA25-D17C-0F0E-0C79-5924000DC931}"/>
              </a:ext>
            </a:extLst>
          </p:cNvPr>
          <p:cNvSpPr/>
          <p:nvPr/>
        </p:nvSpPr>
        <p:spPr>
          <a:xfrm>
            <a:off x="8442900" y="-1"/>
            <a:ext cx="1872000" cy="54000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4. Plan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5497BED-208E-6ED8-9684-8B0B8231CE57}"/>
              </a:ext>
            </a:extLst>
          </p:cNvPr>
          <p:cNvSpPr/>
          <p:nvPr/>
        </p:nvSpPr>
        <p:spPr>
          <a:xfrm>
            <a:off x="10320000" y="-1"/>
            <a:ext cx="1872000" cy="54000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5. Summary</a:t>
            </a:r>
          </a:p>
        </p:txBody>
      </p:sp>
    </p:spTree>
    <p:extLst>
      <p:ext uri="{BB962C8B-B14F-4D97-AF65-F5344CB8AC3E}">
        <p14:creationId xmlns:p14="http://schemas.microsoft.com/office/powerpoint/2010/main" val="33020182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F3019-5826-A3B6-3CCF-74FE7977D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06A50-0432-2205-B0B5-4D238A4C855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2ECCC-3B4C-6C3D-FAEE-5F196F060AA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2DD93-2F8B-14C3-6B9E-1ACC41B285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6</a:t>
            </a:fld>
            <a:r>
              <a:rPr lang="en-GB"/>
              <a:t> / X </a:t>
            </a:r>
            <a:endParaRPr lang="en-GB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F3637AA-4B49-EF36-8BA9-84842C193B63}"/>
              </a:ext>
            </a:extLst>
          </p:cNvPr>
          <p:cNvSpPr/>
          <p:nvPr/>
        </p:nvSpPr>
        <p:spPr>
          <a:xfrm>
            <a:off x="0" y="0"/>
            <a:ext cx="1872000" cy="540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16000" bIns="0"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1. Background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74FFE3A-47BB-D836-1245-2DBE8FC4869E}"/>
              </a:ext>
            </a:extLst>
          </p:cNvPr>
          <p:cNvSpPr/>
          <p:nvPr/>
        </p:nvSpPr>
        <p:spPr>
          <a:xfrm>
            <a:off x="1877100" y="-2"/>
            <a:ext cx="1872000" cy="54000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2. Objectives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CC2398F-9A99-B98C-EC1F-CBA3F794C8A4}"/>
              </a:ext>
            </a:extLst>
          </p:cNvPr>
          <p:cNvSpPr/>
          <p:nvPr/>
        </p:nvSpPr>
        <p:spPr>
          <a:xfrm>
            <a:off x="3754200" y="-1"/>
            <a:ext cx="1872000" cy="54000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3. Progress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29CEF92-7973-2DB1-2E6B-9DB720E7A17A}"/>
              </a:ext>
            </a:extLst>
          </p:cNvPr>
          <p:cNvSpPr/>
          <p:nvPr/>
        </p:nvSpPr>
        <p:spPr>
          <a:xfrm>
            <a:off x="5631300" y="-1"/>
            <a:ext cx="4683600" cy="540001"/>
          </a:xfrm>
          <a:prstGeom prst="roundRect">
            <a:avLst/>
          </a:prstGeom>
          <a:solidFill>
            <a:schemeClr val="accent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4. Plan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A2589AD-AFD3-A8DD-5673-EEBA881A8F93}"/>
              </a:ext>
            </a:extLst>
          </p:cNvPr>
          <p:cNvSpPr/>
          <p:nvPr/>
        </p:nvSpPr>
        <p:spPr>
          <a:xfrm>
            <a:off x="10320000" y="-1"/>
            <a:ext cx="1872000" cy="54000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5. Summary</a:t>
            </a:r>
          </a:p>
        </p:txBody>
      </p:sp>
    </p:spTree>
    <p:extLst>
      <p:ext uri="{BB962C8B-B14F-4D97-AF65-F5344CB8AC3E}">
        <p14:creationId xmlns:p14="http://schemas.microsoft.com/office/powerpoint/2010/main" val="424177212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9F991-BD91-0363-2EC3-4424F325F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BD6F9-7D88-3993-19A1-2ADA4553210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2135C-748E-335A-1B13-5D889D4AB10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BDBEA-B8AF-7E92-5655-721FD039A2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7</a:t>
            </a:fld>
            <a:r>
              <a:rPr lang="en-GB"/>
              <a:t> / X </a:t>
            </a:r>
            <a:endParaRPr lang="en-GB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A103F46-1119-AA58-6D3C-F881900430CA}"/>
              </a:ext>
            </a:extLst>
          </p:cNvPr>
          <p:cNvSpPr/>
          <p:nvPr/>
        </p:nvSpPr>
        <p:spPr>
          <a:xfrm>
            <a:off x="7508400" y="0"/>
            <a:ext cx="4683600" cy="540001"/>
          </a:xfrm>
          <a:prstGeom prst="roundRect">
            <a:avLst/>
          </a:prstGeom>
          <a:solidFill>
            <a:schemeClr val="accent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5. Summary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68C07C5-76CE-A074-6B6D-FD08743E9E39}"/>
              </a:ext>
            </a:extLst>
          </p:cNvPr>
          <p:cNvSpPr/>
          <p:nvPr/>
        </p:nvSpPr>
        <p:spPr>
          <a:xfrm>
            <a:off x="0" y="0"/>
            <a:ext cx="1872000" cy="540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16000" bIns="0"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1. Background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BD56A64-391A-E72F-19B4-3C389D905A6E}"/>
              </a:ext>
            </a:extLst>
          </p:cNvPr>
          <p:cNvSpPr/>
          <p:nvPr/>
        </p:nvSpPr>
        <p:spPr>
          <a:xfrm>
            <a:off x="1877100" y="0"/>
            <a:ext cx="1872000" cy="54000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2. Objectives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8B8D5A-1E55-84F2-CCBE-60ACC90DBA6A}"/>
              </a:ext>
            </a:extLst>
          </p:cNvPr>
          <p:cNvSpPr/>
          <p:nvPr/>
        </p:nvSpPr>
        <p:spPr>
          <a:xfrm>
            <a:off x="3754200" y="0"/>
            <a:ext cx="1872000" cy="54000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3. Progress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02C924B-0ABA-19B9-6413-8CAD85EDD9A9}"/>
              </a:ext>
            </a:extLst>
          </p:cNvPr>
          <p:cNvSpPr/>
          <p:nvPr/>
        </p:nvSpPr>
        <p:spPr>
          <a:xfrm>
            <a:off x="5631300" y="0"/>
            <a:ext cx="1872000" cy="54000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4. Plan</a:t>
            </a:r>
          </a:p>
        </p:txBody>
      </p:sp>
    </p:spTree>
    <p:extLst>
      <p:ext uri="{BB962C8B-B14F-4D97-AF65-F5344CB8AC3E}">
        <p14:creationId xmlns:p14="http://schemas.microsoft.com/office/powerpoint/2010/main" val="129007763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4FBCA-4D7D-F121-1540-F4D96744B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8CD65-9320-B6FB-1A60-E6B5A3180A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3CAB9C-F161-A8DA-70F9-625A3F5B17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Emulating Double Precision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E182F3F-3DFE-4980-99D0-D841CB980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85E9C12-0B03-6C4E-7AE6-7254C2F53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BB0FCB9-9254-A593-8A69-D4215E643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8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475473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A1311-4D63-76D6-233E-D21E99B72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D3A5B-2471-7FC5-5E83-992CEC6CD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22D0D-3D5B-BCDE-BCBB-D71A84E5D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Modern HPC relies on GPUs, but NVIDIA's roadmap (e.g., Hopper, Blackwell) is overwhelmingly optimized for the AI market.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has led to massive performance gains in low-precision formats (FP8, FP16, TF32) used for AI.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contrast, double-precision (FP64), which is critical for scientific codes like Nektar++, is a low priority. Its performance is stagnating, and on some new architectures, it's even emulated.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Project Goal (Overall):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Investigate methods to emulate high-precision FP64 operators in Nektar++ (like </a:t>
            </a:r>
            <a:r>
              <a:rPr lang="en-US" dirty="0" err="1">
                <a:latin typeface="Courier New" panose="02070309020205020404" pitchFamily="49" charset="0"/>
              </a:rPr>
              <a:t>Dgemm</a:t>
            </a:r>
            <a:r>
              <a:rPr lang="en-US" dirty="0"/>
              <a:t>) using the faster, low-precision FP32 (</a:t>
            </a:r>
            <a:r>
              <a:rPr lang="en-US" dirty="0" err="1">
                <a:latin typeface="Courier New" panose="02070309020205020404" pitchFamily="49" charset="0"/>
              </a:rPr>
              <a:t>Sgemm</a:t>
            </a:r>
            <a:r>
              <a:rPr lang="en-US" dirty="0"/>
              <a:t>) hardware.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Google Sans Text"/>
              </a:rPr>
              <a:t>Short-Term Goal (Pre-Xmas):</a:t>
            </a:r>
            <a:endParaRPr lang="en-US" altLang="en-US" dirty="0"/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Google Sans Text"/>
              </a:rPr>
              <a:t>Implement a POC that emulates a DGEMM call with SGEMM</a:t>
            </a:r>
            <a:r>
              <a:rPr lang="en-US" altLang="en-US" sz="500" dirty="0">
                <a:latin typeface="Google Sans Text"/>
              </a:rPr>
              <a:t>.</a:t>
            </a:r>
            <a:endParaRPr lang="en-US" altLang="en-US" dirty="0">
              <a:latin typeface="Google Sans Text"/>
            </a:endParaRP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Google Sans Text"/>
              </a:rPr>
              <a:t>Success Criteria:</a:t>
            </a:r>
            <a:r>
              <a:rPr lang="en-US" altLang="en-US" dirty="0">
                <a:latin typeface="Google Sans Text"/>
              </a:rPr>
              <a:t> The emulated result must match the machine error epsilon of 10^-15.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Google Sans Text"/>
              </a:rPr>
              <a:t>Metrics:</a:t>
            </a:r>
            <a:r>
              <a:rPr lang="en-US" altLang="en-US" dirty="0">
                <a:latin typeface="Google Sans Text"/>
              </a:rPr>
              <a:t> Monitor performance (TFLOPS) and accuracy (max relative error) against the native FP64 baseline.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15ACDF4-426F-F7B9-3138-F5071F3516B6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dirty="0"/>
              <a:t>Emulating Double Precision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1E159DB-26E9-855C-B286-A78C9771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5755BC7-6763-CE40-81A5-DCAE4DE0A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AD92578-A6A7-9767-D3D0-F1A49D92E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9</a:t>
            </a:fld>
            <a:r>
              <a:rPr lang="en-GB"/>
              <a:t> / 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138996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3D0EB-F966-9A1F-DC34-45DAFBD86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1D7F6-171D-FF6F-04B2-EAC913D302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Current Literature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A70ED-45B7-8F28-A486-2A845D8F6E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Ozaki Algorithm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243E8ECD-56A8-4F4F-65D9-29B585F43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E28AD9D-CC91-4FC5-D43B-7615187A2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8907706-4F9F-F80C-ED53-D46871773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10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445767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98833-C24C-5942-C241-CB34D7A21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566AE-B160-2131-E5FB-F051DB2D5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Literature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34229-7548-DA18-0E5A-059E810DA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work focuses on increasing accuracy for FP64, not emulation. It's designed to compute results more accurately than a standard </a:t>
            </a:r>
            <a:r>
              <a:rPr lang="en-US" dirty="0" err="1"/>
              <a:t>Dgemm</a:t>
            </a:r>
            <a:r>
              <a:rPr lang="en-US" dirty="0"/>
              <a:t> by eliminating roundoff error. Key Technique: An "Error-Free Transformation" (EFT) that splits one double (FP64) into a sum of two other doubles.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The first term is error free since the beta (separator) is chosen strategically such that the bits from A and B including those required for carry fit inside a double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14A818E-ED38-3269-D066-FA7749845F22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dirty="0"/>
              <a:t>Ozaki Algorithm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9F198C-A536-C174-4E2C-61551C58A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7" y="2494173"/>
            <a:ext cx="6087325" cy="13336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D4482D-B1FE-02B2-B6CF-19C42F6F2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4950" y="4971414"/>
            <a:ext cx="4945279" cy="1731567"/>
          </a:xfrm>
          <a:prstGeom prst="rect">
            <a:avLst/>
          </a:prstGeom>
        </p:spPr>
      </p:pic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2E8E2CF5-121B-0A27-5E14-0726B2EED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9B2D493-5410-503B-C10F-5DE3CB224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817B2C7-CDD1-D4B8-DFDC-604EA93BD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11</a:t>
            </a:fld>
            <a:r>
              <a:rPr lang="en-GB"/>
              <a:t> / 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550400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F3FBA-38D0-16BE-5E59-EECA8085B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26516-6572-7555-AB4C-7CE05D82E1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Our Approach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73FB01-0A11-EE8C-27FA-CBF64A43FA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Adapting for FP32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9AE5036-AB08-AB89-9568-C42A1000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BEBBF90-158F-F51C-871D-1A9F0B06A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43D3288-61BD-BA80-C27F-2A0166621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12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098152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C35DA-9D50-7087-D7EF-01775A40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6E6CE-F7F5-F5E6-23CE-11AA17319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1C777-9F6F-02E8-FB83-8A797246E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Our goal is different: we want to use fast FP32 hardware.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 must split one FP64 (53 bits) into a sum of multiple FP32s (24 bits each).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Difference:</a:t>
            </a:r>
            <a:r>
              <a:rPr lang="en-US" dirty="0"/>
              <a:t> In Method 1, the individual </a:t>
            </a:r>
            <a:r>
              <a:rPr lang="en-US" dirty="0" err="1"/>
              <a:t>Sgemm</a:t>
            </a:r>
            <a:r>
              <a:rPr lang="en-US" dirty="0"/>
              <a:t> calls </a:t>
            </a:r>
            <a:r>
              <a:rPr lang="en-US" i="1" dirty="0"/>
              <a:t>have</a:t>
            </a:r>
            <a:r>
              <a:rPr lang="en-US" dirty="0"/>
              <a:t> error, but the final 120-bit sum should be accurate. In Method 2, the </a:t>
            </a:r>
            <a:r>
              <a:rPr lang="en-US" dirty="0" err="1"/>
              <a:t>Sgemm</a:t>
            </a:r>
            <a:r>
              <a:rPr lang="en-US" dirty="0"/>
              <a:t> calls are </a:t>
            </a:r>
            <a:r>
              <a:rPr lang="en-US" i="1" dirty="0"/>
              <a:t>error-free</a:t>
            </a:r>
            <a:r>
              <a:rPr lang="en-US" dirty="0"/>
              <a:t>, but it's much more expensive.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C36E0BA-45C7-B303-42F7-CD4363C5FDF4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dirty="0"/>
              <a:t>Adapting for FP32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C50DF4-44C9-B3DD-1A9E-FA2C47325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78" y="2122610"/>
            <a:ext cx="9583487" cy="2000529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F2298789-A6AA-117F-626C-8C9B5D3D5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D189379-9429-6759-CA39-964264562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D998DDD-CE44-2F03-BE5A-0808EF729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13</a:t>
            </a:fld>
            <a:r>
              <a:rPr lang="en-GB"/>
              <a:t> / 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3772073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01790-B749-D57E-ED2C-F9F03BFE8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D0BB6-E53A-B949-B7C2-47092CCEF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78A9F-1652-7F7B-ACE0-F5227A8FC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C42C9E4-B052-7D0A-CEB8-087DD03BC495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dirty="0"/>
              <a:t>Adapting for FP32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74EAC7-5374-5FC6-56CC-02F1F06D4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441" y="1528619"/>
            <a:ext cx="9939117" cy="4078736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E303B08-8095-EB34-C95F-699A8BDF7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27B765DE-CC32-BA36-87D6-11C19D900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AFC4317-2E4A-3058-9378-5B181E1D8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14</a:t>
            </a:fld>
            <a:r>
              <a:rPr lang="en-GB"/>
              <a:t> / 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2672114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B312C-E2F1-6CC7-84CF-B03E2A70D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6028C-C85B-1BB3-0887-AAC354B28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A8C13-0877-5AFE-18FB-D3F43CE36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123B71F-6192-647D-1968-ECFEC4B90B63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dirty="0"/>
              <a:t>Adapting for FP32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AB6CFE-06BA-4C75-1683-C0ED5513F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892" y="1445420"/>
            <a:ext cx="10260514" cy="4132907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2582EC02-EB9B-0470-7B28-D5DF5E664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3B0E4AD-B6ED-954D-3C65-63C93C389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78EF1F2-E19A-D722-AB17-1559A3C07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15</a:t>
            </a:fld>
            <a:r>
              <a:rPr lang="en-GB"/>
              <a:t> / 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5961388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92429-79E2-DD1F-A1EF-0901CDD17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00603-DDDB-B1F9-DDB5-EEEB725910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Proof of Concept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8F9809-EA14-4046-3708-F273C0428A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Current Status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BA92ADF0-C27E-9860-EE84-8D541D34D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B4DA6DE-A74D-4464-8EF8-23080747E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EC606B-7F6D-4DE1-D21B-BC0098CC3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16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2191460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E99D4-A61B-8C95-F959-90C90CB88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8E347-587D-5485-BA57-E7A208E8E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of Concept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F49B0B3-3276-8E77-29C2-EFF0FDD13C17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dirty="0"/>
              <a:t>Current Status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4DCABA3-582D-C956-BD09-426C434A9B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5800" y="4274552"/>
            <a:ext cx="18473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CC1965E0-022B-59F4-C41A-8D2442763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556" y="1650623"/>
            <a:ext cx="10961077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PoC 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Have a working algorithm that emulates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Dgemm</a:t>
            </a:r>
            <a:r>
              <a:rPr kumimoji="0" lang="en-US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precision 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$\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approx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10^{-15}$) before Christmas.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Current Status: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 have successfully implemented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Method 1 (the 25-call "Penta-Single" method)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in a complete CUDA script.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3B26FDB-40B5-21BF-0B59-E32449E36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394" y="2807131"/>
            <a:ext cx="8935697" cy="3258005"/>
          </a:xfrm>
          <a:prstGeom prst="rect">
            <a:avLst/>
          </a:prstGeom>
        </p:spPr>
      </p:pic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9173F9F-118D-F5D5-D6C4-59E051238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69AC07C-6022-8197-C438-6D1362520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E284D57-8824-3ABA-7FB1-FE19B7DBA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17</a:t>
            </a:fld>
            <a:r>
              <a:rPr lang="en-GB"/>
              <a:t> / 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1383442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AC8EF-7D59-0124-E6A3-2C1B2620F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02657-D121-198B-4633-1D76B504CE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Issues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2D21F-B97B-7DD8-260C-B43F128E83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My current blockers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B298921-2264-0412-3C9C-0C728FE69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5C708DA-A8FD-764F-F94A-9F982A121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5ECE3BD-EFFD-A507-28E5-722F56095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18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9698980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A1D4C-8D9B-7FE9-AB6C-630C947F1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E41FF-208E-8F63-0911-C6CEB50EB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94A2CFF-4B18-1DA3-7B52-CF5D1567C0D2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dirty="0"/>
              <a:t>My current blockers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00C5237-9A07-967D-C031-126ED380CA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5800" y="4274552"/>
            <a:ext cx="18473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F6C74316-78DA-85EE-D8D5-2B8B803AF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800" y="1111105"/>
            <a:ext cx="11094126" cy="392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Blocker: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PoC is currently failing its accuracy goal.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Symptom: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max relative error is stuck 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10^-7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Analysis: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This is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exactly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machine epsilon for a single-precision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float</a:t>
            </a:r>
            <a:r>
              <a:rPr kumimoji="0" lang="en-US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Uncertainties: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Is the split kernel wrong?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(Unlikely, as unit tests pass, but is it numerically unstable?)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Is the "full-fill" (Method 1) idea fundamentally flawed?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Does the $\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approx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10^{-7}$ error from the $A_1 B_1$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Sgemm</a:t>
            </a:r>
            <a:r>
              <a:rPr kumimoji="0" lang="en-US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call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irreversibly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pollute the result, making it impossible to add back the smaller correction terms?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E02A24-0509-C8A5-CC7E-54F4BB087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97" y="2390630"/>
            <a:ext cx="8916644" cy="1038370"/>
          </a:xfrm>
          <a:prstGeom prst="rect">
            <a:avLst/>
          </a:prstGeom>
        </p:spPr>
      </p:pic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99D6BC1-4BD2-D901-2BDB-C17384C33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14344F4-C37B-79A3-EEDE-9ABF7A68B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Project LRC001 – Paul Kallarackel - 02029025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BD19D2A-360D-2F87-2323-ACE971450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19</a:t>
            </a:fld>
            <a:r>
              <a:rPr lang="en-GB"/>
              <a:t> / 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5511726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2D868-BEF3-10F5-3E89-6111B77B4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B8D30-56A8-C276-9F0B-3D2E2DD0A5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D7A05F-3F8E-1E0B-E619-C8F54EFA5A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Solving blockers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63882EB-3F50-E6E1-4C73-E250DDE25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E045517-DB7D-825F-30C7-0AAAD3CEE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A5799AA-08A6-8384-5E51-640EA9FA8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20</a:t>
            </a:fld>
            <a:r>
              <a:rPr lang="en-GB"/>
              <a:t> / X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437374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0E540-3549-BA69-7549-7A9B75A70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619AC-F626-9514-BC27-6F9A49E38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9BA4930-9ED4-B14A-B889-B458C2F24B0C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dirty="0"/>
              <a:t>Solving Blockers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4B39D70-47A6-9D8E-2E63-58C3E03AEB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5800" y="4274552"/>
            <a:ext cx="18473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4DA89D-8732-B3A0-15AD-D4093487A448}"/>
              </a:ext>
            </a:extLst>
          </p:cNvPr>
          <p:cNvSpPr txBox="1"/>
          <p:nvPr/>
        </p:nvSpPr>
        <p:spPr>
          <a:xfrm>
            <a:off x="568518" y="1550504"/>
            <a:ext cx="11255072" cy="43652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endParaRPr lang="en-GB" sz="1600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E91E58-FBD9-2E26-AF32-93E759473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079" y="1145897"/>
            <a:ext cx="6325063" cy="5174480"/>
          </a:xfrm>
          <a:prstGeom prst="rect">
            <a:avLst/>
          </a:prstGeom>
        </p:spPr>
      </p:pic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E101FAAA-19ED-50E2-D649-926573C88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11/03/2026</a:t>
            </a:r>
            <a:endParaRPr lang="en-GB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9B5EA79B-48D4-2809-BC4D-F8E286EFE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LRC001 – Paul Kallarackel - 02029025</a:t>
            </a:r>
            <a:endParaRPr lang="en-GB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465CE3F-918F-128C-39AC-2FE0DD269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21</a:t>
            </a:fld>
            <a:r>
              <a:rPr lang="en-GB"/>
              <a:t> / 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3528004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779ED-26E0-2246-E9C7-4C994ECA9F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89A0D-F0EF-B927-B803-3366B6CEC4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936109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ICL PPT Theme">
  <a:themeElements>
    <a:clrScheme name="Imperial colour theme">
      <a:dk1>
        <a:sysClr val="windowText" lastClr="000000"/>
      </a:dk1>
      <a:lt1>
        <a:sysClr val="window" lastClr="FFFFFF"/>
      </a:lt1>
      <a:dk2>
        <a:srgbClr val="000080"/>
      </a:dk2>
      <a:lt2>
        <a:srgbClr val="F5F5F5"/>
      </a:lt2>
      <a:accent1>
        <a:srgbClr val="0000CD"/>
      </a:accent1>
      <a:accent2>
        <a:srgbClr val="C71585"/>
      </a:accent2>
      <a:accent3>
        <a:srgbClr val="7B68EE"/>
      </a:accent3>
      <a:accent4>
        <a:srgbClr val="FF0000"/>
      </a:accent4>
      <a:accent5>
        <a:srgbClr val="FF4500"/>
      </a:accent5>
      <a:accent6>
        <a:srgbClr val="006400"/>
      </a:accent6>
      <a:hlink>
        <a:srgbClr val="000080"/>
      </a:hlink>
      <a:folHlink>
        <a:srgbClr val="C71585"/>
      </a:folHlink>
    </a:clrScheme>
    <a:fontScheme name="Imperial Sans font theme">
      <a:majorFont>
        <a:latin typeface="Imperial Sans Text Semibold"/>
        <a:ea typeface=""/>
        <a:cs typeface=""/>
      </a:majorFont>
      <a:minorFont>
        <a:latin typeface="Imperial Sans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05000"/>
          </a:lnSpc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Imperial_PowerPoint_16_9_simplified template" id="{AC92FECB-A8A0-E646-A419-0F8545DB9962}" vid="{4B3D5CAF-CC99-E94B-B0A1-08E0379C1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4BBFDCE9C65C45B257CD4C89E0CC4C" ma:contentTypeVersion="3" ma:contentTypeDescription="Create a new document." ma:contentTypeScope="" ma:versionID="024eea61a99e276f29bb4de829abc010">
  <xsd:schema xmlns:xsd="http://www.w3.org/2001/XMLSchema" xmlns:xs="http://www.w3.org/2001/XMLSchema" xmlns:p="http://schemas.microsoft.com/office/2006/metadata/properties" xmlns:ns2="58ccc919-a085-4c55-a8d0-fc57436857d8" targetNamespace="http://schemas.microsoft.com/office/2006/metadata/properties" ma:root="true" ma:fieldsID="6c52aa458bad14d68220b81cc9789cb2" ns2:_="">
    <xsd:import namespace="58ccc919-a085-4c55-a8d0-fc57436857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ccc919-a085-4c55-a8d0-fc57436857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2739277-F501-4DD3-AC3E-E62D288923D9}">
  <ds:schemaRefs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purl.org/dc/dcmitype/"/>
    <ds:schemaRef ds:uri="http://purl.org/dc/elements/1.1/"/>
    <ds:schemaRef ds:uri="http://schemas.openxmlformats.org/package/2006/metadata/core-properties"/>
    <ds:schemaRef ds:uri="58ccc919-a085-4c55-a8d0-fc57436857d8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B2545B1-F5A6-481C-9ECA-608EE6E0B99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DD65134-D972-43CF-B603-94E0F8ABB0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8ccc919-a085-4c55-a8d0-fc57436857d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Imperial_Sans_PowerPoint_16_9_simplified template</Template>
  <TotalTime>1123</TotalTime>
  <Words>875</Words>
  <Application>Microsoft Office PowerPoint</Application>
  <PresentationFormat>Widescreen</PresentationFormat>
  <Paragraphs>171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Calibri</vt:lpstr>
      <vt:lpstr>Courier New</vt:lpstr>
      <vt:lpstr>Google Sans Text</vt:lpstr>
      <vt:lpstr>Imperial Sans Text</vt:lpstr>
      <vt:lpstr>Imperial Sans Text Medium</vt:lpstr>
      <vt:lpstr>Imperial Sans Text Semibold</vt:lpstr>
      <vt:lpstr>Inter Medium</vt:lpstr>
      <vt:lpstr>ICL PPT Theme</vt:lpstr>
      <vt:lpstr>FYP Interim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</vt:lpstr>
      <vt:lpstr>Problem</vt:lpstr>
      <vt:lpstr>Current Literature </vt:lpstr>
      <vt:lpstr>Current Literature</vt:lpstr>
      <vt:lpstr>Our Approach</vt:lpstr>
      <vt:lpstr>Our Approach</vt:lpstr>
      <vt:lpstr>Our Approach</vt:lpstr>
      <vt:lpstr>Our Approach</vt:lpstr>
      <vt:lpstr>Proof of Concept</vt:lpstr>
      <vt:lpstr>Proof of Concept</vt:lpstr>
      <vt:lpstr>Issues</vt:lpstr>
      <vt:lpstr>Issues</vt:lpstr>
      <vt:lpstr>Next Steps</vt:lpstr>
      <vt:lpstr>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Kallarackel, Paul</dc:creator>
  <cp:lastModifiedBy>Kallarackel, Paul</cp:lastModifiedBy>
  <cp:revision>11</cp:revision>
  <dcterms:created xsi:type="dcterms:W3CDTF">2025-11-16T21:29:59Z</dcterms:created>
  <dcterms:modified xsi:type="dcterms:W3CDTF">2026-03-07T13:56:10Z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0x010100A04BBFDCE9C65C45B257CD4C89E0CC4C</vt:lpwstr>
  </property>
  <property fmtid="{D5CDD505-2E9C-101B-9397-08002B2CF9AE}" pid="3" name="MediaServiceImageTags">
    <vt:lpwstr/>
  </property>
</Properties>
</file>