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323" r:id="rId5"/>
    <p:sldId id="315" r:id="rId6"/>
    <p:sldId id="317" r:id="rId7"/>
    <p:sldId id="318" r:id="rId8"/>
    <p:sldId id="319" r:id="rId9"/>
    <p:sldId id="321" r:id="rId10"/>
    <p:sldId id="320" r:id="rId11"/>
    <p:sldId id="301" r:id="rId12"/>
    <p:sldId id="295" r:id="rId13"/>
    <p:sldId id="303" r:id="rId14"/>
    <p:sldId id="302" r:id="rId15"/>
    <p:sldId id="304" r:id="rId16"/>
    <p:sldId id="305" r:id="rId17"/>
    <p:sldId id="308" r:id="rId18"/>
    <p:sldId id="307" r:id="rId19"/>
    <p:sldId id="310" r:id="rId20"/>
    <p:sldId id="309" r:id="rId21"/>
    <p:sldId id="312" r:id="rId22"/>
    <p:sldId id="311" r:id="rId23"/>
    <p:sldId id="313" r:id="rId24"/>
    <p:sldId id="314" r:id="rId25"/>
    <p:sldId id="316" r:id="rId26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09B564D-AF0A-4F12-840A-341F1EF9B068}">
          <p14:sldIdLst>
            <p14:sldId id="323"/>
          </p14:sldIdLst>
        </p14:section>
        <p14:section name="Agenda" id="{4C605709-DED4-4BBA-B8BE-688FE0A0968D}">
          <p14:sldIdLst>
            <p14:sldId id="315"/>
          </p14:sldIdLst>
        </p14:section>
        <p14:section name="Background" id="{ACFE30F6-51C3-4DFA-B2DE-9BCED4792339}">
          <p14:sldIdLst>
            <p14:sldId id="317"/>
          </p14:sldIdLst>
        </p14:section>
        <p14:section name="Objectives" id="{2475FBC3-E0D1-405E-BE61-A33BD896B7FB}">
          <p14:sldIdLst>
            <p14:sldId id="318"/>
          </p14:sldIdLst>
        </p14:section>
        <p14:section name="Progress" id="{3503A0BC-9183-4D70-9362-504D0EE41474}">
          <p14:sldIdLst>
            <p14:sldId id="319"/>
          </p14:sldIdLst>
        </p14:section>
        <p14:section name="Plan" id="{6CD8984D-FFD5-44C4-B8CE-C9F3714B9E31}">
          <p14:sldIdLst>
            <p14:sldId id="321"/>
          </p14:sldIdLst>
        </p14:section>
        <p14:section name="Summary" id="{F761EB85-FFD4-4172-8EB5-34F6C09B4BC1}">
          <p14:sldIdLst>
            <p14:sldId id="320"/>
          </p14:sldIdLst>
        </p14:section>
        <p14:section name="Example" id="{731D3FBA-7084-433F-94DA-93455F149F64}">
          <p14:sldIdLst>
            <p14:sldId id="301"/>
            <p14:sldId id="295"/>
            <p14:sldId id="303"/>
            <p14:sldId id="302"/>
            <p14:sldId id="304"/>
            <p14:sldId id="305"/>
            <p14:sldId id="308"/>
            <p14:sldId id="307"/>
            <p14:sldId id="310"/>
            <p14:sldId id="309"/>
            <p14:sldId id="312"/>
            <p14:sldId id="311"/>
            <p14:sldId id="313"/>
            <p14:sldId id="314"/>
            <p14:sldId id="3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59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16" y="18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80E59A6-8341-9ABF-8536-7D9600F1854E}"/>
              </a:ext>
            </a:extLst>
          </p:cNvPr>
          <p:cNvSpPr/>
          <p:nvPr userDrawn="1"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04A202D1-A4B9-7640-BE63-242C6AE4C2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B45A23E-3D3D-AF7F-01BF-5784746F800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0A1ED1E-980A-451C-4CE4-522D03C72F7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 </a:t>
            </a:r>
          </a:p>
        </p:txBody>
      </p:sp>
      <p:grpSp>
        <p:nvGrpSpPr>
          <p:cNvPr id="21" name="Group 4">
            <a:extLst>
              <a:ext uri="{FF2B5EF4-FFF2-40B4-BE49-F238E27FC236}">
                <a16:creationId xmlns:a16="http://schemas.microsoft.com/office/drawing/2014/main" id="{57CB34B6-325A-CE00-A3C4-38D33F3B4C4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68673DCB-685F-0E20-2D58-FF81AC35BBD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6">
              <a:extLst>
                <a:ext uri="{FF2B5EF4-FFF2-40B4-BE49-F238E27FC236}">
                  <a16:creationId xmlns:a16="http://schemas.microsoft.com/office/drawing/2014/main" id="{11051E77-3054-CA07-0832-C66CE9CB14E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EEB86B3A-7C72-FDE1-B172-E799191E0F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4BA8CD0D-D8CD-F176-0CF0-ED9B31AD409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EF1231E0-2758-B5E8-D790-75F600B847E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3F0FFF12-BDD5-55EF-D357-8928C10877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9508BD5F-824F-72C6-ED32-9F2A771CC3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29" name="Freeform 12">
              <a:extLst>
                <a:ext uri="{FF2B5EF4-FFF2-40B4-BE49-F238E27FC236}">
                  <a16:creationId xmlns:a16="http://schemas.microsoft.com/office/drawing/2014/main" id="{551F30CE-9C47-22EE-87A3-B60F10BB5E7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BB52FF-CC93-F07E-EB4C-445727694E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04DF6-0166-5507-9752-8B25AAD000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06B55D6-112C-79DC-9667-D9B208F769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A17C0B1-7E7F-6954-F927-8008A9C1F12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3CAA8-84AC-A955-F269-263A1DC7EC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9DBF49-796C-F78B-2FFC-D8A32E98954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3A0913-7510-B0A7-5B26-0BB8E2CFBF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D47581C-992D-DC81-130F-D1BEAC60BD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FDAAD86-8576-DDB6-A6D4-0005897A31D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6E118E9-983A-6184-A8F0-A4019506A6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0A0B4ABF-5A3C-E460-5671-E4528A63358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F3D2AE9-3A70-06E0-8083-9FE34A3AA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EB0428-073D-255E-0603-B7A7BDAE54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7752697-E8FD-0586-13E9-34F98CC4439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D791D6-292A-5644-5EE9-51301A01B4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95163B5-B861-BE6C-C9ED-294D52445C0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0C66614-41B9-C218-3CFE-CB9E1BF5F8C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731588F-786B-10A7-076E-365E9D20FD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410BB3-2B89-7CC7-780C-44931EDCED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22C44FD-9935-565B-51C4-07EDD751E4B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444669C-FC93-AF86-2973-9D9A24B58E2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F2338AC-FED3-E963-2349-B4EB458244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F1E1644-B084-C0E8-390C-57D0FC246F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2CA7376-EFA5-4209-2D04-0AD5DC20AE7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36B5CE4-BFEC-7FBE-6662-E2E9B988074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7217864-1AFD-F2DE-EF53-8B65EF1A78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911236E-071F-DD2A-30DB-A2C60279A69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270FBB6-7E01-F747-7030-9F4677A5E20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EF870EC-4959-8866-140F-E80D89E7EE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917FF23-1146-9B25-6617-F100014C23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D34D0E-4ACE-E4A9-E783-244C936867C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CBF335E-9AA0-9564-84EE-984B94AEB64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510A3F-233D-9380-ABAA-22F043FD57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E11B2C-78CA-610C-6E36-01DD97CED03D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EBB53A4-31B2-837A-2CD9-C6FE58E3BEDA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05AD4B1-DD50-BC34-C52A-5DC8F0DD9A0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0A92CBF-CFCF-C6E6-4DD9-C6DEE72D09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40DFF5A-2AC4-2FF4-1C69-99D1E2DB751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7F134F8-B49C-1B56-492C-DC1AD9D3D9D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B53072D-8985-0325-CAC1-74420708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1AA30737-1F37-A87B-AA9B-CA743D16A661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3C07737C-424A-644B-3C26-525F7BA5236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EB71933-433D-E18A-0EEE-985736944A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81B8B8-CA45-1A66-F977-8C1E16598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6E75D07-E67B-A9A3-C02D-7B968ED46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217419C-40FE-F91F-2953-B52FA51E9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49BBFB2-19E9-88C4-65CE-D6E6256E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CC6683C-5A91-794D-D5F3-FF99653CC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C1A50E-1824-DC74-17BB-731EC40E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6419645-DD65-FB3C-2BCA-109AF57D6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514B54E-4B60-6946-131E-48548799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EF8CF5-3AAE-8D1E-BBB4-C8FABBF7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982528-ED0E-B4CA-A9B6-4B20FA9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17B92FD-2D19-A228-9CF5-A8F8BB33A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6D6CE8-E81B-E6F1-72B3-0337EEBC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9E03E9-2E15-D686-0F71-06E46D83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2B9059-3731-6151-FF84-5553FCD5B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B50735-A545-BB9F-EDE5-5E90F2D7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FA79ED-CACF-8795-9805-15F33F438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FAFD3-CAE5-5291-59F1-1C42123E0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E3A83-6C61-487B-2AC2-E07D8E671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B66839-73D5-9FB3-DB9B-3542FD56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9A17A-3138-FDFB-0508-05AE79738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E00BB4-E181-43DD-F708-410A436C1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8FFC52-1BBF-F67C-0106-4487B17A91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E004C-5906-6391-631E-DFC533EAC1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3825B5A-868F-8751-7807-B6DE7315D52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A38C81-D67D-BFD5-C6D9-22BF9FFD97D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F8DE5-0134-9A2C-FDA5-3ACF22FBA6D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B3D2DA-AAF5-FB54-A756-8860F406925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8D9C4F-68B7-7964-0BEE-8CF3646B7C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90F332-0F5B-5229-2B85-9F064FDF26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3AC3B21-8395-C1F0-CA0C-B005D390856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B50194-FD5A-F6E5-0FFE-E7C91B06D90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7905-FD61-CAFD-C77E-DDA12871413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48C676F-6003-49FC-40BB-3B27C308700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B07CE3-61A4-9879-9BCC-15DA62A2756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40DD7-CF29-EA2E-1348-92A31D1FB1F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2815C1D-BE5A-79AF-8596-DA89BD929A7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F3C306-BC37-6090-2CAD-6C5D6E4566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78BA0-5779-12DB-B955-8E42297D290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75C8531-C05E-63EF-FB48-2E82EC6A668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0A0DD8F-27EB-AEAF-3B99-94593C17503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6B5A68F-2B85-5492-2A7F-9BEBEA9A07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BB48791-A869-86F5-0819-A87269CE355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373F9F1-22A7-7ED0-5FC4-847D9539D622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7E3FBA5-A0D9-54A0-B9D0-7DB817E3D946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701D3FA-7A33-DEFC-9B00-FF3AD72A3E2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E6E9283C-C232-E087-63BC-08285178996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50883F-B378-2E63-3923-B8762B443B8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C244142-9CD8-E7B9-9723-BF59350908E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97282-FB56-29E1-A750-42482B59FF6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C0E831B-4DE5-5F84-F4E5-CEB35897BF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5544FC-DB91-F992-78C0-8FD5ED1E341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E49CF4-E125-D917-FC4B-587DCEBC24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E05C4-B444-65EC-7B57-AC5311423ED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BDE6A64-5594-2FB7-8CDF-E95335634D8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949F88-61A6-D8E7-29E1-E6F78E8D361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CEEDF6-82E0-0E86-B1A5-294545A8BB7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48FD806-EE9E-D87A-BE6F-B3D8B9C67F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E2D15-23F5-149A-30AE-5397C97F404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44F386A-DBA7-61B6-554F-83AF26108F2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590EE48-AD8F-52CD-AC89-A2E3BCCF06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E8E05A-B87E-3BB3-D156-5E144FA6F9F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E0AA13-96B4-7519-3AB2-0045C4FF40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22EEA79-02E5-A5A8-BA2D-ECEA63B195D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B2E939-97C7-7790-09BF-AC83B28220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D809A66-E9E9-DD83-DBE6-2BB6B669212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8E999-D5C7-9A58-59B8-15EA189A25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EE5371-FE3A-7739-D4CF-D746BFC0431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28C694-9E27-861B-E7C2-B5B7EA87F41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91598B-C40D-A239-27EF-A2D2C775BE8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694141-8160-F555-B4F5-A1D4C940960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86CC0-380A-9C20-172D-8A626A09DD8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45132F-41AC-8782-EEE3-0FEFECDA8E1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05E93D-99E5-31EA-7551-A812B9620E4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5DA575-9EAC-BDC1-54BD-3FC3A3D2DEC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CAA9D9-57A8-D2AD-175C-0089C8DEAEE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A21C963-6CF2-9760-7F75-DB20AA4126C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B78243-6DA3-02B2-DAFC-CAA57539215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ED9601-8448-53B3-4043-F3515F9E1A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9762458-4588-D1A5-E839-5A35F5F271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690542-602A-048E-DD16-4607078ED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A65E2-B29C-ADFA-17CB-B26C0AAEE84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0350EC4-9AC3-6724-CAD5-75107F3DE4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410BC1-F959-80A7-1B21-2A4BCB0C2C6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9CF22-0534-06A6-D932-24AD08A9ECD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3755-3ABA-419D-0EDF-B2F3AF616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75C78-C1E5-FE97-F613-06DF5094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93C2-6A05-A994-99DB-4F7ABF69D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274CA-C7BA-C222-BD08-1DA6E6537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BBCA8-48D2-110D-BC25-4625DC2F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9D36F-F361-EC55-524E-00B1EC5D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18FC4-080B-F50F-F3A9-6C8EFDFE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2F555-CB50-A198-502D-DE71CF732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B31DD-3F3F-6EDB-42C1-EB853564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6478B9-7A94-1C7B-8199-67CDB955116B}"/>
              </a:ext>
            </a:extLst>
          </p:cNvPr>
          <p:cNvSpPr txBox="1">
            <a:spLocks/>
          </p:cNvSpPr>
          <p:nvPr/>
        </p:nvSpPr>
        <p:spPr>
          <a:xfrm>
            <a:off x="330271" y="918580"/>
            <a:ext cx="9144000" cy="184794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/>
              <a:t>FYP Interim Presentation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0A393E0-D3FA-5384-CAC2-7796039AC9A0}"/>
              </a:ext>
            </a:extLst>
          </p:cNvPr>
          <p:cNvSpPr txBox="1">
            <a:spLocks/>
          </p:cNvSpPr>
          <p:nvPr/>
        </p:nvSpPr>
        <p:spPr>
          <a:xfrm>
            <a:off x="354435" y="2906299"/>
            <a:ext cx="11111656" cy="3793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kern="1200">
                <a:solidFill>
                  <a:schemeClr val="accent1"/>
                </a:solidFill>
                <a:latin typeface="+mn-lt"/>
                <a:ea typeface="Inter Medium" panose="02000503000000020004" pitchFamily="2" charset="0"/>
                <a:cs typeface="+mn-cs"/>
              </a:defRPr>
            </a:lvl1pPr>
            <a:lvl2pPr marL="342882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685765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47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30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12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295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177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060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i="1" dirty="0"/>
              <a:t>Leveraging Low-Precision Hardware for High-Fidelity CFD: Integrating the Ozaki Scheme into Nektar++</a:t>
            </a:r>
            <a:endParaRPr lang="en-US" sz="2200" i="1" dirty="0">
              <a:latin typeface="Imperial Sans Text Medium"/>
            </a:endParaRPr>
          </a:p>
          <a:p>
            <a:pPr>
              <a:spcBef>
                <a:spcPts val="1800"/>
              </a:spcBef>
            </a:pPr>
            <a:r>
              <a:rPr lang="en-GB" sz="2200" dirty="0">
                <a:latin typeface="Imperial Sans Text Medium"/>
              </a:rPr>
              <a:t>Paul Kallarackel</a:t>
            </a:r>
          </a:p>
          <a:p>
            <a:r>
              <a:rPr lang="en-GB" sz="2200" dirty="0">
                <a:latin typeface="Imperial Sans Text Medium"/>
              </a:rPr>
              <a:t>02029025</a:t>
            </a:r>
          </a:p>
          <a:p>
            <a:r>
              <a:rPr lang="en-GB" sz="2200" dirty="0">
                <a:latin typeface="Imperial Sans Text Medium"/>
              </a:rPr>
              <a:t>11/03/2026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A02ED51-2B8F-8567-B293-D7A5E0BC78BD}"/>
              </a:ext>
            </a:extLst>
          </p:cNvPr>
          <p:cNvSpPr txBox="1">
            <a:spLocks/>
          </p:cNvSpPr>
          <p:nvPr/>
        </p:nvSpPr>
        <p:spPr>
          <a:xfrm>
            <a:off x="-7987330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F70D2C-A85F-8E33-E9C2-6AA707AEC854}"/>
              </a:ext>
            </a:extLst>
          </p:cNvPr>
          <p:cNvSpPr txBox="1"/>
          <p:nvPr/>
        </p:nvSpPr>
        <p:spPr>
          <a:xfrm>
            <a:off x="-6402146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F2DFDF-9BE5-17A6-2596-DC2EF1F2E274}"/>
              </a:ext>
            </a:extLst>
          </p:cNvPr>
          <p:cNvGrpSpPr/>
          <p:nvPr/>
        </p:nvGrpSpPr>
        <p:grpSpPr>
          <a:xfrm>
            <a:off x="-8305824" y="1606788"/>
            <a:ext cx="5862320" cy="3793251"/>
            <a:chOff x="0" y="1606789"/>
            <a:chExt cx="3470012" cy="2351384"/>
          </a:xfrm>
        </p:grpSpPr>
        <p:sp>
          <p:nvSpPr>
            <p:cNvPr id="10" name="Rectangle: Single Corner Rounded 9">
              <a:extLst>
                <a:ext uri="{FF2B5EF4-FFF2-40B4-BE49-F238E27FC236}">
                  <a16:creationId xmlns:a16="http://schemas.microsoft.com/office/drawing/2014/main" id="{94D0814F-5F8C-3A24-544B-ADFC069FC137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0F5344-6244-8170-BCD1-7103A5298BDF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9C912E-0FE2-A393-8FEB-985F2428F5B0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C67571F-6CA6-366D-6280-069FA22CFDF0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14" name="Rectangle: Single Corner Rounded 13">
              <a:extLst>
                <a:ext uri="{FF2B5EF4-FFF2-40B4-BE49-F238E27FC236}">
                  <a16:creationId xmlns:a16="http://schemas.microsoft.com/office/drawing/2014/main" id="{B0712E83-60D3-AFDD-AE84-30E8578A42E7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D98AA387-1EC4-E623-C2D0-1EA86AB85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7253720"/>
              </p:ext>
            </p:extLst>
          </p:nvPr>
        </p:nvGraphicFramePr>
        <p:xfrm>
          <a:off x="-8305824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0911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848C7-AE88-7A1C-CEE4-0C884BD75F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C85C3-43A0-A973-4FE1-CB49A89998D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C08A-2D18-B4E2-06F7-E29587BE07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863353-7429-017E-ED88-17CEE0AA3E76}"/>
              </a:ext>
            </a:extLst>
          </p:cNvPr>
          <p:cNvSpPr/>
          <p:nvPr/>
        </p:nvSpPr>
        <p:spPr>
          <a:xfrm>
            <a:off x="-5572" y="-626533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AFEEB8-FB66-4B7A-40EB-5B7CCBA6CCA7}"/>
              </a:ext>
            </a:extLst>
          </p:cNvPr>
          <p:cNvSpPr/>
          <p:nvPr/>
        </p:nvSpPr>
        <p:spPr>
          <a:xfrm>
            <a:off x="4672356" y="-626535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1464C-7249-0A09-2704-80AEBE4C8C9B}"/>
              </a:ext>
            </a:extLst>
          </p:cNvPr>
          <p:cNvSpPr/>
          <p:nvPr/>
        </p:nvSpPr>
        <p:spPr>
          <a:xfrm>
            <a:off x="6548904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4B2402-EC28-E834-E5BB-5E4281B410E2}"/>
              </a:ext>
            </a:extLst>
          </p:cNvPr>
          <p:cNvSpPr/>
          <p:nvPr/>
        </p:nvSpPr>
        <p:spPr>
          <a:xfrm>
            <a:off x="8425452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464FDF-3AE6-4DF4-F9F9-CAA102DD54A1}"/>
              </a:ext>
            </a:extLst>
          </p:cNvPr>
          <p:cNvSpPr/>
          <p:nvPr/>
        </p:nvSpPr>
        <p:spPr>
          <a:xfrm>
            <a:off x="10302000" y="-626536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843967C-89AA-6B87-E0AC-2BA1143D4911}"/>
              </a:ext>
            </a:extLst>
          </p:cNvPr>
          <p:cNvSpPr txBox="1">
            <a:spLocks/>
          </p:cNvSpPr>
          <p:nvPr/>
        </p:nvSpPr>
        <p:spPr>
          <a:xfrm>
            <a:off x="318494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F17AC3-867D-3EC6-7628-E1F0C40F6A1F}"/>
              </a:ext>
            </a:extLst>
          </p:cNvPr>
          <p:cNvSpPr txBox="1"/>
          <p:nvPr/>
        </p:nvSpPr>
        <p:spPr>
          <a:xfrm>
            <a:off x="1903678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568ADE-4833-5E10-5EC1-688F39549A64}"/>
              </a:ext>
            </a:extLst>
          </p:cNvPr>
          <p:cNvGrpSpPr/>
          <p:nvPr/>
        </p:nvGrpSpPr>
        <p:grpSpPr>
          <a:xfrm>
            <a:off x="0" y="1606788"/>
            <a:ext cx="5862320" cy="3793251"/>
            <a:chOff x="0" y="1606789"/>
            <a:chExt cx="3470012" cy="2351384"/>
          </a:xfrm>
        </p:grpSpPr>
        <p:sp>
          <p:nvSpPr>
            <p:cNvPr id="20" name="Rectangle: Single Corner Rounded 19">
              <a:extLst>
                <a:ext uri="{FF2B5EF4-FFF2-40B4-BE49-F238E27FC236}">
                  <a16:creationId xmlns:a16="http://schemas.microsoft.com/office/drawing/2014/main" id="{781778D9-CA51-A86D-3DDA-E02D80D3FF12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0BC2D0D-6862-CA4A-A777-A86CFFD4A5FF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C373803-4F0E-3559-A687-E23FCC8E1305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2C27DEE-630D-9A11-7DF4-A9B01904016F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: Single Corner Rounded 33">
              <a:extLst>
                <a:ext uri="{FF2B5EF4-FFF2-40B4-BE49-F238E27FC236}">
                  <a16:creationId xmlns:a16="http://schemas.microsoft.com/office/drawing/2014/main" id="{2391BD62-CEC8-0313-195E-5AE848987863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18" name="Content Placeholder 3">
            <a:extLst>
              <a:ext uri="{FF2B5EF4-FFF2-40B4-BE49-F238E27FC236}">
                <a16:creationId xmlns:a16="http://schemas.microsoft.com/office/drawing/2014/main" id="{D3DAE653-8642-1783-E49B-4E9130BB2B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3387069"/>
              </p:ext>
            </p:extLst>
          </p:nvPr>
        </p:nvGraphicFramePr>
        <p:xfrm>
          <a:off x="0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  <p:sp>
        <p:nvSpPr>
          <p:cNvPr id="43" name="Title 1">
            <a:extLst>
              <a:ext uri="{FF2B5EF4-FFF2-40B4-BE49-F238E27FC236}">
                <a16:creationId xmlns:a16="http://schemas.microsoft.com/office/drawing/2014/main" id="{660BB4A9-2421-DB6F-9F3D-98FFD887F537}"/>
              </a:ext>
            </a:extLst>
          </p:cNvPr>
          <p:cNvSpPr txBox="1">
            <a:spLocks/>
          </p:cNvSpPr>
          <p:nvPr/>
        </p:nvSpPr>
        <p:spPr>
          <a:xfrm>
            <a:off x="19363400" y="918580"/>
            <a:ext cx="9144000" cy="184794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/>
              <a:t>FYP Interim Presentation</a:t>
            </a:r>
          </a:p>
        </p:txBody>
      </p:sp>
      <p:sp>
        <p:nvSpPr>
          <p:cNvPr id="44" name="Subtitle 2">
            <a:extLst>
              <a:ext uri="{FF2B5EF4-FFF2-40B4-BE49-F238E27FC236}">
                <a16:creationId xmlns:a16="http://schemas.microsoft.com/office/drawing/2014/main" id="{D659971A-F105-D0B5-D28E-A935752F0D1F}"/>
              </a:ext>
            </a:extLst>
          </p:cNvPr>
          <p:cNvSpPr txBox="1">
            <a:spLocks/>
          </p:cNvSpPr>
          <p:nvPr/>
        </p:nvSpPr>
        <p:spPr>
          <a:xfrm>
            <a:off x="19387564" y="2906299"/>
            <a:ext cx="11111656" cy="3793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kern="1200">
                <a:solidFill>
                  <a:schemeClr val="accent1"/>
                </a:solidFill>
                <a:latin typeface="+mn-lt"/>
                <a:ea typeface="Inter Medium" panose="02000503000000020004" pitchFamily="2" charset="0"/>
                <a:cs typeface="+mn-cs"/>
              </a:defRPr>
            </a:lvl1pPr>
            <a:lvl2pPr marL="342882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685765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47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30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12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295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177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060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i="1" dirty="0"/>
              <a:t>Leveraging Low-Precision Hardware for High-Fidelity CFD: Integrating the Ozaki Scheme into Nektar++</a:t>
            </a:r>
            <a:endParaRPr lang="en-US" sz="2200" i="1" dirty="0">
              <a:latin typeface="Imperial Sans Text Medium"/>
            </a:endParaRPr>
          </a:p>
          <a:p>
            <a:pPr>
              <a:spcBef>
                <a:spcPts val="1800"/>
              </a:spcBef>
            </a:pPr>
            <a:r>
              <a:rPr lang="en-GB" sz="2200" dirty="0">
                <a:latin typeface="Imperial Sans Text Medium"/>
              </a:rPr>
              <a:t>Paul Kallarackel</a:t>
            </a:r>
          </a:p>
          <a:p>
            <a:r>
              <a:rPr lang="en-GB" sz="2200" dirty="0">
                <a:latin typeface="Imperial Sans Text Medium"/>
              </a:rPr>
              <a:t>02029025</a:t>
            </a:r>
          </a:p>
          <a:p>
            <a:r>
              <a:rPr lang="en-GB" sz="2200" dirty="0">
                <a:latin typeface="Imperial Sans Text Medium"/>
              </a:rPr>
              <a:t>11/03/2026</a:t>
            </a:r>
          </a:p>
        </p:txBody>
      </p:sp>
    </p:spTree>
    <p:extLst>
      <p:ext uri="{BB962C8B-B14F-4D97-AF65-F5344CB8AC3E}">
        <p14:creationId xmlns:p14="http://schemas.microsoft.com/office/powerpoint/2010/main" val="1069016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3B8F2-5122-1E62-A7BB-02E4DBEE4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3D817-A3F4-7A8A-628E-5493D0F6335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F0EC9-BF08-6EBA-E5D3-98F32FA1D33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0E595-CB5F-CBC7-7AEF-CB58E887B9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878550-26B4-0548-BAAC-723827229FEB}"/>
              </a:ext>
            </a:extLst>
          </p:cNvPr>
          <p:cNvSpPr/>
          <p:nvPr/>
        </p:nvSpPr>
        <p:spPr>
          <a:xfrm>
            <a:off x="-5572" y="0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8AB20E-C593-D771-3ADE-F3598253E88A}"/>
              </a:ext>
            </a:extLst>
          </p:cNvPr>
          <p:cNvSpPr/>
          <p:nvPr/>
        </p:nvSpPr>
        <p:spPr>
          <a:xfrm>
            <a:off x="4672356" y="-2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D7C6EE1-854D-7F5C-EF32-3512530801E7}"/>
              </a:ext>
            </a:extLst>
          </p:cNvPr>
          <p:cNvSpPr/>
          <p:nvPr/>
        </p:nvSpPr>
        <p:spPr>
          <a:xfrm>
            <a:off x="6548904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01BA4E9-0F84-0933-6027-136AA1A92224}"/>
              </a:ext>
            </a:extLst>
          </p:cNvPr>
          <p:cNvSpPr/>
          <p:nvPr/>
        </p:nvSpPr>
        <p:spPr>
          <a:xfrm>
            <a:off x="8425452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65AC69C-7307-90BC-609D-B9324050CD03}"/>
              </a:ext>
            </a:extLst>
          </p:cNvPr>
          <p:cNvSpPr/>
          <p:nvPr/>
        </p:nvSpPr>
        <p:spPr>
          <a:xfrm>
            <a:off x="10302000" y="-3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E9B60CA-69C1-0EBC-9148-DCA6A04EC193}"/>
              </a:ext>
            </a:extLst>
          </p:cNvPr>
          <p:cNvSpPr txBox="1">
            <a:spLocks/>
          </p:cNvSpPr>
          <p:nvPr/>
        </p:nvSpPr>
        <p:spPr>
          <a:xfrm>
            <a:off x="-7987330" y="332899"/>
            <a:ext cx="5094219" cy="90662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Outline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CF7AC9-9D7D-A120-8A47-A5681991025A}"/>
              </a:ext>
            </a:extLst>
          </p:cNvPr>
          <p:cNvSpPr txBox="1"/>
          <p:nvPr/>
        </p:nvSpPr>
        <p:spPr>
          <a:xfrm>
            <a:off x="-6402146" y="3019580"/>
            <a:ext cx="102813" cy="5440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A4C1178-FAED-8F81-0CCC-DD36A5D3558F}"/>
              </a:ext>
            </a:extLst>
          </p:cNvPr>
          <p:cNvGrpSpPr/>
          <p:nvPr/>
        </p:nvGrpSpPr>
        <p:grpSpPr>
          <a:xfrm>
            <a:off x="-8305824" y="1606788"/>
            <a:ext cx="5862320" cy="3793251"/>
            <a:chOff x="0" y="1606789"/>
            <a:chExt cx="3470012" cy="2351384"/>
          </a:xfrm>
        </p:grpSpPr>
        <p:sp>
          <p:nvSpPr>
            <p:cNvPr id="54" name="Rectangle: Single Corner Rounded 53">
              <a:extLst>
                <a:ext uri="{FF2B5EF4-FFF2-40B4-BE49-F238E27FC236}">
                  <a16:creationId xmlns:a16="http://schemas.microsoft.com/office/drawing/2014/main" id="{0B20AB78-58E6-1961-112F-9AA94C4AF508}"/>
                </a:ext>
              </a:extLst>
            </p:cNvPr>
            <p:cNvSpPr/>
            <p:nvPr/>
          </p:nvSpPr>
          <p:spPr>
            <a:xfrm>
              <a:off x="1" y="1606789"/>
              <a:ext cx="3470011" cy="47093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4F0CD7C-5CC1-A78B-98C7-462CD6A90323}"/>
                </a:ext>
              </a:extLst>
            </p:cNvPr>
            <p:cNvSpPr/>
            <p:nvPr/>
          </p:nvSpPr>
          <p:spPr>
            <a:xfrm>
              <a:off x="1" y="207772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EBD83DE-3FC0-DE78-FB26-DCF6698190B2}"/>
                </a:ext>
              </a:extLst>
            </p:cNvPr>
            <p:cNvSpPr/>
            <p:nvPr/>
          </p:nvSpPr>
          <p:spPr>
            <a:xfrm>
              <a:off x="1" y="2548650"/>
              <a:ext cx="3470011" cy="4709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74A380E-A33C-B3F2-2B81-022E15D865B0}"/>
                </a:ext>
              </a:extLst>
            </p:cNvPr>
            <p:cNvSpPr/>
            <p:nvPr/>
          </p:nvSpPr>
          <p:spPr>
            <a:xfrm>
              <a:off x="1" y="3019580"/>
              <a:ext cx="3470011" cy="4709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  <p:sp>
          <p:nvSpPr>
            <p:cNvPr id="58" name="Rectangle: Single Corner Rounded 57">
              <a:extLst>
                <a:ext uri="{FF2B5EF4-FFF2-40B4-BE49-F238E27FC236}">
                  <a16:creationId xmlns:a16="http://schemas.microsoft.com/office/drawing/2014/main" id="{8FC5B74A-F3A8-A1D5-2702-CEDFA78F7853}"/>
                </a:ext>
              </a:extLst>
            </p:cNvPr>
            <p:cNvSpPr/>
            <p:nvPr/>
          </p:nvSpPr>
          <p:spPr>
            <a:xfrm flipV="1">
              <a:off x="0" y="3490510"/>
              <a:ext cx="3470011" cy="467663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56000" numCol="1" spcCol="0" rtlCol="0" anchor="ctr"/>
            <a:lstStyle/>
            <a:p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59" name="Content Placeholder 3">
            <a:extLst>
              <a:ext uri="{FF2B5EF4-FFF2-40B4-BE49-F238E27FC236}">
                <a16:creationId xmlns:a16="http://schemas.microsoft.com/office/drawing/2014/main" id="{9B4D6D51-C840-1557-CB65-C79C22480C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0565213"/>
              </p:ext>
            </p:extLst>
          </p:nvPr>
        </p:nvGraphicFramePr>
        <p:xfrm>
          <a:off x="-8305824" y="1606788"/>
          <a:ext cx="5537200" cy="37932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7586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180000" marR="0" marT="0" marB="0" anchor="ctr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5709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CBD19-48B3-5EA5-D0E5-18366CD3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E018D-3A27-3E18-89B5-19675EEC88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3C9FD-3AA2-907D-75C6-9537467C49D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8FA5-73CE-4EDF-1584-2C61D58238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7FEEAA0-3F57-96F1-D8FF-0261AEC7A033}"/>
              </a:ext>
            </a:extLst>
          </p:cNvPr>
          <p:cNvSpPr/>
          <p:nvPr/>
        </p:nvSpPr>
        <p:spPr>
          <a:xfrm>
            <a:off x="-5071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AEE035F-BF73-2EFE-BCE5-32E55C662C7D}"/>
              </a:ext>
            </a:extLst>
          </p:cNvPr>
          <p:cNvSpPr/>
          <p:nvPr/>
        </p:nvSpPr>
        <p:spPr>
          <a:xfrm>
            <a:off x="1874197" y="-2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317AAD8-1EF6-C8E8-7569-E8CFB1B51EDB}"/>
              </a:ext>
            </a:extLst>
          </p:cNvPr>
          <p:cNvSpPr/>
          <p:nvPr/>
        </p:nvSpPr>
        <p:spPr>
          <a:xfrm>
            <a:off x="6543465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3299552-8C02-D339-450E-CC1D96EC67A0}"/>
              </a:ext>
            </a:extLst>
          </p:cNvPr>
          <p:cNvSpPr/>
          <p:nvPr/>
        </p:nvSpPr>
        <p:spPr>
          <a:xfrm>
            <a:off x="8422733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674A1A8-9667-F412-6D40-D8BFD2C8625E}"/>
              </a:ext>
            </a:extLst>
          </p:cNvPr>
          <p:cNvSpPr/>
          <p:nvPr/>
        </p:nvSpPr>
        <p:spPr>
          <a:xfrm>
            <a:off x="10302000" y="-3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2470674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06AB-4695-8BF5-B2B2-6CEB7E04E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CAD6F-0F41-50B6-EE02-75EFFF2E15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3096F-9019-E64B-B671-A69D3DDE30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D56C4-8EA4-620B-25F2-6DB79927684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F2DE270-8785-40D7-2F97-83AD050D1EC4}"/>
              </a:ext>
            </a:extLst>
          </p:cNvPr>
          <p:cNvSpPr/>
          <p:nvPr/>
        </p:nvSpPr>
        <p:spPr>
          <a:xfrm>
            <a:off x="-64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75D6F1-D1D0-552A-D9D5-A074170108C1}"/>
              </a:ext>
            </a:extLst>
          </p:cNvPr>
          <p:cNvSpPr/>
          <p:nvPr/>
        </p:nvSpPr>
        <p:spPr>
          <a:xfrm>
            <a:off x="18771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2F64457-6FC8-A38F-B4FA-9A5807C64FA2}"/>
              </a:ext>
            </a:extLst>
          </p:cNvPr>
          <p:cNvSpPr/>
          <p:nvPr/>
        </p:nvSpPr>
        <p:spPr>
          <a:xfrm>
            <a:off x="3755400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6E6FA25-D17C-0F0E-0C79-5924000DC931}"/>
              </a:ext>
            </a:extLst>
          </p:cNvPr>
          <p:cNvSpPr/>
          <p:nvPr/>
        </p:nvSpPr>
        <p:spPr>
          <a:xfrm>
            <a:off x="842370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497BED-208E-6ED8-9684-8B0B8231CE57}"/>
              </a:ext>
            </a:extLst>
          </p:cNvPr>
          <p:cNvSpPr/>
          <p:nvPr/>
        </p:nvSpPr>
        <p:spPr>
          <a:xfrm>
            <a:off x="103020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3302018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F3019-5826-A3B6-3CCF-74FE7977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06A50-0432-2205-B0B5-4D238A4C855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2ECCC-3B4C-6C3D-FAEE-5F196F060A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72DD93-2F8B-14C3-6B9E-1ACC41B285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F3637AA-4B49-EF36-8BA9-84842C193B63}"/>
              </a:ext>
            </a:extLst>
          </p:cNvPr>
          <p:cNvSpPr/>
          <p:nvPr/>
        </p:nvSpPr>
        <p:spPr>
          <a:xfrm>
            <a:off x="-172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4FFE3A-47BB-D836-1245-2DBE8FC4869E}"/>
              </a:ext>
            </a:extLst>
          </p:cNvPr>
          <p:cNvSpPr/>
          <p:nvPr/>
        </p:nvSpPr>
        <p:spPr>
          <a:xfrm>
            <a:off x="1867855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CC2398F-9A99-B98C-EC1F-CBA3F794C8A4}"/>
              </a:ext>
            </a:extLst>
          </p:cNvPr>
          <p:cNvSpPr/>
          <p:nvPr/>
        </p:nvSpPr>
        <p:spPr>
          <a:xfrm>
            <a:off x="375296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29CEF92-7973-2DB1-2E6B-9DB720E7A17A}"/>
              </a:ext>
            </a:extLst>
          </p:cNvPr>
          <p:cNvSpPr/>
          <p:nvPr/>
        </p:nvSpPr>
        <p:spPr>
          <a:xfrm>
            <a:off x="5638066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2589AD-AFD3-A8DD-5673-EEBA881A8F93}"/>
              </a:ext>
            </a:extLst>
          </p:cNvPr>
          <p:cNvSpPr/>
          <p:nvPr/>
        </p:nvSpPr>
        <p:spPr>
          <a:xfrm>
            <a:off x="10313172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42417721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9F991-BD91-0363-2EC3-4424F325F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BD6F9-7D88-3993-19A1-2ADA455321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2135C-748E-335A-1B13-5D889D4AB10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BDBEA-B8AF-7E92-5655-721FD039A2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7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A103F46-1119-AA58-6D3C-F881900430CA}"/>
              </a:ext>
            </a:extLst>
          </p:cNvPr>
          <p:cNvSpPr/>
          <p:nvPr/>
        </p:nvSpPr>
        <p:spPr>
          <a:xfrm>
            <a:off x="7521300" y="0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8C07C5-76CE-A074-6B6D-FD08743E9E39}"/>
              </a:ext>
            </a:extLst>
          </p:cNvPr>
          <p:cNvSpPr/>
          <p:nvPr/>
        </p:nvSpPr>
        <p:spPr>
          <a:xfrm>
            <a:off x="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D56A64-391A-E72F-19B4-3C389D905A6E}"/>
              </a:ext>
            </a:extLst>
          </p:cNvPr>
          <p:cNvSpPr/>
          <p:nvPr/>
        </p:nvSpPr>
        <p:spPr>
          <a:xfrm>
            <a:off x="188032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8B8D5A-1E55-84F2-CCBE-60ACC90DBA6A}"/>
              </a:ext>
            </a:extLst>
          </p:cNvPr>
          <p:cNvSpPr/>
          <p:nvPr/>
        </p:nvSpPr>
        <p:spPr>
          <a:xfrm>
            <a:off x="37606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2C924B-0ABA-19B9-6413-8CAD85EDD9A9}"/>
              </a:ext>
            </a:extLst>
          </p:cNvPr>
          <p:cNvSpPr/>
          <p:nvPr/>
        </p:nvSpPr>
        <p:spPr>
          <a:xfrm>
            <a:off x="564097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</p:spTree>
    <p:extLst>
      <p:ext uri="{BB962C8B-B14F-4D97-AF65-F5344CB8AC3E}">
        <p14:creationId xmlns:p14="http://schemas.microsoft.com/office/powerpoint/2010/main" val="12900776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4FBCA-4D7D-F121-1540-F4D96744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CD65-9320-B6FB-1A60-E6B5A3180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CAB9C-F161-A8DA-70F9-625A3F5B1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E182F3F-3DFE-4980-99D0-D841CB98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85E9C12-0B03-6C4E-7AE6-7254C2F53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BB0FCB9-9254-A593-8A69-D4215E643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8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475473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1311-4D63-76D6-233E-D21E99B7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D3A5B-2471-7FC5-5E83-992CEC6C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22D0D-3D5B-BCDE-BCBB-D71A84E5D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Modern HPC relies on GPUs, but NVIDIA's roadmap (e.g., Hopper, Blackwell) is overwhelmingly optimized for the AI market.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has led to massive performance gains in low-precision formats (FP8, FP16, TF32) used for AI.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contrast, double-precision (FP64), which is critical for scientific codes like Nektar++, is a low priority. Its performance is stagnating, and on some new architectures, it's even emulated.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Project Goal (Overall):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Investigate methods to emulate high-precision FP64 operators in Nektar++ (like </a:t>
            </a:r>
            <a:r>
              <a:rPr lang="en-US" dirty="0" err="1">
                <a:latin typeface="Courier New" panose="02070309020205020404" pitchFamily="49" charset="0"/>
              </a:rPr>
              <a:t>Dgemm</a:t>
            </a:r>
            <a:r>
              <a:rPr lang="en-US" dirty="0"/>
              <a:t>) using the faster, low-precision FP32 (</a:t>
            </a:r>
            <a:r>
              <a:rPr lang="en-US" dirty="0" err="1">
                <a:latin typeface="Courier New" panose="02070309020205020404" pitchFamily="49" charset="0"/>
              </a:rPr>
              <a:t>Sgemm</a:t>
            </a:r>
            <a:r>
              <a:rPr lang="en-US" dirty="0"/>
              <a:t>) hardware.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Google Sans Text"/>
              </a:rPr>
              <a:t>Short-Term Goal (Pre-Xmas):</a:t>
            </a:r>
            <a:endParaRPr lang="en-US" alt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Google Sans Text"/>
              </a:rPr>
              <a:t>Implement a POC that emulates a DGEMM call with SGEMM</a:t>
            </a:r>
            <a:r>
              <a:rPr lang="en-US" altLang="en-US" sz="500" dirty="0">
                <a:latin typeface="Google Sans Text"/>
              </a:rPr>
              <a:t>.</a:t>
            </a:r>
            <a:endParaRPr lang="en-US" altLang="en-US" dirty="0">
              <a:latin typeface="Google Sans Text"/>
            </a:endParaRP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Success Criteria:</a:t>
            </a:r>
            <a:r>
              <a:rPr lang="en-US" altLang="en-US" dirty="0">
                <a:latin typeface="Google Sans Text"/>
              </a:rPr>
              <a:t> The emulated result must match the machine error epsilon of 10^-15.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Metrics:</a:t>
            </a:r>
            <a:r>
              <a:rPr lang="en-US" altLang="en-US" dirty="0">
                <a:latin typeface="Google Sans Text"/>
              </a:rPr>
              <a:t> Monitor performance (TFLOPS) and accuracy (max relative error) against the native FP64 baseline.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15ACDF4-426F-F7B9-3138-F5071F3516B6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159DB-26E9-855C-B286-A78C9771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5755BC7-6763-CE40-81A5-DCAE4DE0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AD92578-A6A7-9767-D3D0-F1A49D92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9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138996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D0EB-F966-9A1F-DC34-45DAFBD8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7F6-171D-FF6F-04B2-EAC913D302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Current Literature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A70ED-45B7-8F28-A486-2A845D8F6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243E8ECD-56A8-4F4F-65D9-29B585F4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28AD9D-CC91-4FC5-D43B-7615187A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8907706-4F9F-F80C-ED53-D4687177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45767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8833-C24C-5942-C241-CB34D7A2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566AE-B160-2131-E5FB-F051DB2D5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4229-7548-DA18-0E5A-059E810DA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work focuses on increasing accuracy for FP64, not emulation. It's designed to compute results more accurately than a standard </a:t>
            </a:r>
            <a:r>
              <a:rPr lang="en-US" dirty="0" err="1"/>
              <a:t>Dgemm</a:t>
            </a:r>
            <a:r>
              <a:rPr lang="en-US" dirty="0"/>
              <a:t> by eliminating roundoff error. Key Technique: An "Error-Free Transformation" (EFT) that splits one double (FP64) into a sum of two other doubles.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first term is error free since the beta (separator) is chosen strategically such that the bits from A and B including those required for carry fit inside a double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14A818E-ED38-3269-D066-FA7749845F2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F198C-A536-C174-4E2C-61551C58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" y="2494173"/>
            <a:ext cx="6087325" cy="1333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D4482D-B1FE-02B2-B6CF-19C42F6F2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950" y="4971414"/>
            <a:ext cx="4945279" cy="1731567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E8E2CF5-121B-0A27-5E14-0726B2EED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9B2D493-5410-503B-C10F-5DE3CB224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817B2C7-CDD1-D4B8-DFDC-604EA93B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50400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3FBA-38D0-16BE-5E59-EECA8085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6516-6572-7555-AB4C-7CE05D82E1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73FB01-0A11-EE8C-27FA-CBF64A43FA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9AE5036-AB08-AB89-9568-C42A1000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BEBBF90-158F-F51C-871D-1A9F0B06A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3D3288-61BD-BA80-C27F-2A0166621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12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09815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35DA-9D50-7087-D7EF-01775A40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E6CE-F7F5-F5E6-23CE-11AA1731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1C777-9F6F-02E8-FB83-8A797246E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goal is different: we want to use fast FP32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must split one FP64 (53 bits) into a sum of multiple FP32s (24 bits each).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Difference:</a:t>
            </a:r>
            <a:r>
              <a:rPr lang="en-US" dirty="0"/>
              <a:t> In Method 1, the individual </a:t>
            </a:r>
            <a:r>
              <a:rPr lang="en-US" dirty="0" err="1"/>
              <a:t>Sgemm</a:t>
            </a:r>
            <a:r>
              <a:rPr lang="en-US" dirty="0"/>
              <a:t> calls </a:t>
            </a:r>
            <a:r>
              <a:rPr lang="en-US" i="1" dirty="0"/>
              <a:t>have</a:t>
            </a:r>
            <a:r>
              <a:rPr lang="en-US" dirty="0"/>
              <a:t> error, but the final 120-bit sum should be accurate. In Method 2, the </a:t>
            </a:r>
            <a:r>
              <a:rPr lang="en-US" dirty="0" err="1"/>
              <a:t>Sgemm</a:t>
            </a:r>
            <a:r>
              <a:rPr lang="en-US" dirty="0"/>
              <a:t> calls are </a:t>
            </a:r>
            <a:r>
              <a:rPr lang="en-US" i="1" dirty="0"/>
              <a:t>error-free</a:t>
            </a:r>
            <a:r>
              <a:rPr lang="en-US" dirty="0"/>
              <a:t>, but it's much more expensive.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C36E0BA-45C7-B303-42F7-CD4363C5FDF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C50DF4-44C9-B3DD-1A9E-FA2C4732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8" y="2122610"/>
            <a:ext cx="9583487" cy="200052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2298789-A6AA-117F-626C-8C9B5D3D5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D189379-9429-6759-CA39-964264562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D998DDD-CE44-2F03-BE5A-0808EF72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13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77207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1790-B749-D57E-ED2C-F9F03BFE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0BB6-E53A-B949-B7C2-47092CCEF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8A9F-1652-7F7B-ACE0-F5227A8FC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42C9E4-B052-7D0A-CEB8-087DD03BC49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74EAC7-5374-5FC6-56CC-02F1F06D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41" y="1528619"/>
            <a:ext cx="9939117" cy="4078736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E303B08-8095-EB34-C95F-699A8BDF7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7B765DE-CC32-BA36-87D6-11C19D90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AFC4317-2E4A-3058-9378-5B181E1D8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14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267211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312C-E2F1-6CC7-84CF-B03E2A70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028C-C85B-1BB3-0887-AAC354B2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8C13-0877-5AFE-18FB-D3F43CE36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23B71F-6192-647D-1968-ECFEC4B90B63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B6CFE-06BA-4C75-1683-C0ED5513F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92" y="1445420"/>
            <a:ext cx="10260514" cy="4132907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582EC02-EB9B-0470-7B28-D5DF5E664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3B0E4AD-B6ED-954D-3C65-63C93C38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78EF1F2-E19A-D722-AB17-1559A3C07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15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596138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92429-79E2-DD1F-A1EF-0901CDD1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00603-DDDB-B1F9-DDB5-EEEB72591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F9809-EA14-4046-3708-F273C042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A92ADF0-C27E-9860-EE84-8D541D34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B4DA6DE-A74D-4464-8EF8-23080747E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FEC606B-7F6D-4DE1-D21B-BC0098CC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16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219146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99D4-A61B-8C95-F959-90C90CB8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E347-587D-5485-BA57-E7A208E8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F49B0B3-3276-8E77-29C2-EFF0FDD13C17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DCABA3-582D-C956-BD09-426C434A9B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CC1965E0-022B-59F4-C41A-8D244276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556" y="1650623"/>
            <a:ext cx="10961077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PoC 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Have a working algorithm that emulates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precision (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10^{-15}$) before Christmas.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Current Status: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 have successfully 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Method 1 (the 25-call "Penta-Single" method)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 a complete CUDA script.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B26FDB-40B5-21BF-0B59-E32449E36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4" y="2807131"/>
            <a:ext cx="8935697" cy="3258005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173F9F-118D-F5D5-D6C4-59E051238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69AC07C-6022-8197-C438-6D136252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E284D57-8824-3ABA-7FB1-FE19B7DBA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17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138344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C8EF-7D59-0124-E6A3-2C1B2620F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02657-D121-198B-4633-1D76B504C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2D21F-B97B-7DD8-260C-B43F128E8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B298921-2264-0412-3C9C-0C728FE69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5C708DA-A8FD-764F-F94A-9F982A121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5ECE3BD-EFFD-A507-28E5-722F5609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18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698980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1D4C-8D9B-7FE9-AB6C-630C947F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E41FF-208E-8F63-0911-C6CEB50E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4A2CFF-4B18-1DA3-7B52-CF5D1567C0D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0C5237-9A07-967D-C031-126ED380CA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6C74316-78DA-85EE-D8D5-2B8B803AF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800" y="1111105"/>
            <a:ext cx="1109412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Blocker: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PoC is currently failing its accuracy goal.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Symptom: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max relative error is stuck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10^-7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Analysis: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This is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exactly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machine epsilon for a single-precision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float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Uncertainties: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split kernel wrong?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(Unlikely, as unit tests pass, but is it numerically unstable?)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"full-fill" (Method 1) idea fundamentally flawed?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Does the 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10^{-7}$ error from the $A_1 B_1$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call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irreversibly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pollute the result, making it impossible to add back the smaller correction terms?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E02A24-0509-C8A5-CC7E-54F4BB087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97" y="2390630"/>
            <a:ext cx="8916644" cy="1038370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9D6BC1-4BD2-D901-2BDB-C17384C33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14344F4-C37B-79A3-EEDE-9ABF7A68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BD19D2A-360D-2F87-2323-ACE971450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19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5511726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D868-BEF3-10F5-3E89-6111B77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B8D30-56A8-C276-9F0B-3D2E2DD0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A05F-3F8E-1E0B-E619-C8F54EFA5A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63882EB-3F50-E6E1-4C73-E250DDE25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045517-DB7D-825F-30C7-0AAAD3CEE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A5799AA-08A6-8384-5E51-640EA9FA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9437374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E540-3549-BA69-7549-7A9B75A7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619AC-F626-9514-BC27-6F9A49E38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BA4930-9ED4-B14A-B889-B458C2F24B0C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B39D70-47A6-9D8E-2E63-58C3E03AEB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A89D-8732-B3A0-15AD-D4093487A448}"/>
              </a:ext>
            </a:extLst>
          </p:cNvPr>
          <p:cNvSpPr txBox="1"/>
          <p:nvPr/>
        </p:nvSpPr>
        <p:spPr>
          <a:xfrm>
            <a:off x="568518" y="1550504"/>
            <a:ext cx="11255072" cy="4365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91E58-FBD9-2E26-AF32-93E759473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79" y="1145897"/>
            <a:ext cx="6325063" cy="5174480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E101FAAA-19ED-50E2-D649-926573C88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9B5EA79B-48D4-2809-BC4D-F8E286E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A465CE3F-918F-128C-39AC-2FE0DD269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352800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779ED-26E0-2246-E9C7-4C994ECA9F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89A0D-F0EF-B927-B803-3366B6CEC4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936109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mperial_PowerPoint_16_9_simplified template" id="{AC92FECB-A8A0-E646-A419-0F8545DB9962}" vid="{4B3D5CAF-CC99-E94B-B0A1-08E0379C1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4BBFDCE9C65C45B257CD4C89E0CC4C" ma:contentTypeVersion="3" ma:contentTypeDescription="Create a new document." ma:contentTypeScope="" ma:versionID="024eea61a99e276f29bb4de829abc010">
  <xsd:schema xmlns:xsd="http://www.w3.org/2001/XMLSchema" xmlns:xs="http://www.w3.org/2001/XMLSchema" xmlns:p="http://schemas.microsoft.com/office/2006/metadata/properties" xmlns:ns2="58ccc919-a085-4c55-a8d0-fc57436857d8" targetNamespace="http://schemas.microsoft.com/office/2006/metadata/properties" ma:root="true" ma:fieldsID="6c52aa458bad14d68220b81cc9789cb2" ns2:_="">
    <xsd:import namespace="58ccc919-a085-4c55-a8d0-fc57436857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cc919-a085-4c55-a8d0-fc57436857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739277-F501-4DD3-AC3E-E62D288923D9}">
  <ds:schemaRefs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dcmitype/"/>
    <ds:schemaRef ds:uri="http://purl.org/dc/elements/1.1/"/>
    <ds:schemaRef ds:uri="http://schemas.openxmlformats.org/package/2006/metadata/core-properties"/>
    <ds:schemaRef ds:uri="58ccc919-a085-4c55-a8d0-fc57436857d8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B2545B1-F5A6-481C-9ECA-608EE6E0B9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D65134-D972-43CF-B603-94E0F8ABB0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cc919-a085-4c55-a8d0-fc5743685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Imperial_Sans_PowerPoint_16_9_simplified template</Template>
  <TotalTime>1212</TotalTime>
  <Words>952</Words>
  <Application>Microsoft Office PowerPoint</Application>
  <PresentationFormat>Widescreen</PresentationFormat>
  <Paragraphs>204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Calibri</vt:lpstr>
      <vt:lpstr>Courier New</vt:lpstr>
      <vt:lpstr>Google Sans Text</vt:lpstr>
      <vt:lpstr>Imperial Sans Text</vt:lpstr>
      <vt:lpstr>Imperial Sans Text Medium</vt:lpstr>
      <vt:lpstr>Imperial Sans Text Semibold</vt:lpstr>
      <vt:lpstr>Inter Medium</vt:lpstr>
      <vt:lpstr>ICL PPT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Problem</vt:lpstr>
      <vt:lpstr>Problem</vt:lpstr>
      <vt:lpstr>Current Literature </vt:lpstr>
      <vt:lpstr>Current Literature</vt:lpstr>
      <vt:lpstr>Our Approach</vt:lpstr>
      <vt:lpstr>Our Approach</vt:lpstr>
      <vt:lpstr>Our Approach</vt:lpstr>
      <vt:lpstr>Our Approach</vt:lpstr>
      <vt:lpstr>Proof of Concept</vt:lpstr>
      <vt:lpstr>Proof of Concept</vt:lpstr>
      <vt:lpstr>Issues</vt:lpstr>
      <vt:lpstr>Issues</vt:lpstr>
      <vt:lpstr>Next Steps</vt:lpstr>
      <vt:lpstr>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Kallarackel, Paul</dc:creator>
  <cp:lastModifiedBy>Kallarackel, Paul</cp:lastModifiedBy>
  <cp:revision>17</cp:revision>
  <dcterms:created xsi:type="dcterms:W3CDTF">2025-11-16T21:29:59Z</dcterms:created>
  <dcterms:modified xsi:type="dcterms:W3CDTF">2026-03-07T15:25:28Z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0x010100A04BBFDCE9C65C45B257CD4C89E0CC4C</vt:lpwstr>
  </property>
  <property fmtid="{D5CDD505-2E9C-101B-9397-08002B2CF9AE}" pid="3" name="MediaServiceImageTags">
    <vt:lpwstr/>
  </property>
</Properties>
</file>