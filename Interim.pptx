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2"/>
  </p:notesMasterIdLst>
  <p:sldIdLst>
    <p:sldId id="258" r:id="rId5"/>
    <p:sldId id="293" r:id="rId6"/>
    <p:sldId id="301" r:id="rId7"/>
    <p:sldId id="295" r:id="rId8"/>
    <p:sldId id="303" r:id="rId9"/>
    <p:sldId id="302" r:id="rId10"/>
    <p:sldId id="304" r:id="rId11"/>
    <p:sldId id="305" r:id="rId12"/>
    <p:sldId id="308" r:id="rId13"/>
    <p:sldId id="307" r:id="rId14"/>
    <p:sldId id="310" r:id="rId15"/>
    <p:sldId id="309" r:id="rId16"/>
    <p:sldId id="312" r:id="rId17"/>
    <p:sldId id="311" r:id="rId18"/>
    <p:sldId id="313" r:id="rId19"/>
    <p:sldId id="314" r:id="rId20"/>
    <p:sldId id="279" r:id="rId21"/>
  </p:sldIdLst>
  <p:sldSz cx="12192000" cy="6858000"/>
  <p:notesSz cx="6858000" cy="9144000"/>
  <p:defaultTextStyle>
    <a:defPPr>
      <a:defRPr lang="en-US"/>
    </a:defPPr>
    <a:lvl1pPr marL="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7DC"/>
    <a:srgbClr val="F8F3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97" autoAdjust="0"/>
    <p:restoredTop sz="94660"/>
  </p:normalViewPr>
  <p:slideViewPr>
    <p:cSldViewPr snapToGrid="0" showGuides="1">
      <p:cViewPr varScale="1">
        <p:scale>
          <a:sx n="117" d="100"/>
          <a:sy n="117" d="100"/>
        </p:scale>
        <p:origin x="152" y="13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E0D2A8-8F95-47C2-ABE1-A779F5A43C9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7663E2-27CE-4C79-91D3-7F5C4262D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559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4">
            <a:extLst>
              <a:ext uri="{FF2B5EF4-FFF2-40B4-BE49-F238E27FC236}">
                <a16:creationId xmlns:a16="http://schemas.microsoft.com/office/drawing/2014/main" id="{0C35C447-372A-2538-9C02-9DA22221296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24" name="Freeform 5">
              <a:extLst>
                <a:ext uri="{FF2B5EF4-FFF2-40B4-BE49-F238E27FC236}">
                  <a16:creationId xmlns:a16="http://schemas.microsoft.com/office/drawing/2014/main" id="{CFF1AFD2-F993-B30A-2282-C04F1F65AF0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2F13F474-91EA-0185-733B-62682BD9F6E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6" name="Freeform 7">
              <a:extLst>
                <a:ext uri="{FF2B5EF4-FFF2-40B4-BE49-F238E27FC236}">
                  <a16:creationId xmlns:a16="http://schemas.microsoft.com/office/drawing/2014/main" id="{87072C05-B626-BAF9-5316-96EAB02420F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7" name="Freeform 8">
              <a:extLst>
                <a:ext uri="{FF2B5EF4-FFF2-40B4-BE49-F238E27FC236}">
                  <a16:creationId xmlns:a16="http://schemas.microsoft.com/office/drawing/2014/main" id="{AC6EA6C6-1057-DAC8-2609-B6EB51B7237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8" name="Freeform 9">
              <a:extLst>
                <a:ext uri="{FF2B5EF4-FFF2-40B4-BE49-F238E27FC236}">
                  <a16:creationId xmlns:a16="http://schemas.microsoft.com/office/drawing/2014/main" id="{4E258757-AB3A-DE10-FDFE-35B9588E9C3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9" name="Freeform 10">
              <a:extLst>
                <a:ext uri="{FF2B5EF4-FFF2-40B4-BE49-F238E27FC236}">
                  <a16:creationId xmlns:a16="http://schemas.microsoft.com/office/drawing/2014/main" id="{74360D36-2B50-3114-9CB9-4BEE96BCCE6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0" name="Freeform 11">
              <a:extLst>
                <a:ext uri="{FF2B5EF4-FFF2-40B4-BE49-F238E27FC236}">
                  <a16:creationId xmlns:a16="http://schemas.microsoft.com/office/drawing/2014/main" id="{1B032D16-0F2B-1DEC-D92A-ACAF24C07B0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1" name="Freeform 12">
              <a:extLst>
                <a:ext uri="{FF2B5EF4-FFF2-40B4-BE49-F238E27FC236}">
                  <a16:creationId xmlns:a16="http://schemas.microsoft.com/office/drawing/2014/main" id="{13923343-4541-4792-ADC5-E6333E98D37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C53F61BD-18EB-B863-761D-89639D8806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accent1"/>
                </a:solidFill>
              </a:defRPr>
            </a:lvl2pPr>
            <a:lvl3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33033340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4">
            <a:extLst>
              <a:ext uri="{FF2B5EF4-FFF2-40B4-BE49-F238E27FC236}">
                <a16:creationId xmlns:a16="http://schemas.microsoft.com/office/drawing/2014/main" id="{0C35C447-372A-2538-9C02-9DA22221296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24" name="Freeform 5">
              <a:extLst>
                <a:ext uri="{FF2B5EF4-FFF2-40B4-BE49-F238E27FC236}">
                  <a16:creationId xmlns:a16="http://schemas.microsoft.com/office/drawing/2014/main" id="{CFF1AFD2-F993-B30A-2282-C04F1F65AF0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2F13F474-91EA-0185-733B-62682BD9F6E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6" name="Freeform 7">
              <a:extLst>
                <a:ext uri="{FF2B5EF4-FFF2-40B4-BE49-F238E27FC236}">
                  <a16:creationId xmlns:a16="http://schemas.microsoft.com/office/drawing/2014/main" id="{87072C05-B626-BAF9-5316-96EAB02420F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7" name="Freeform 8">
              <a:extLst>
                <a:ext uri="{FF2B5EF4-FFF2-40B4-BE49-F238E27FC236}">
                  <a16:creationId xmlns:a16="http://schemas.microsoft.com/office/drawing/2014/main" id="{AC6EA6C6-1057-DAC8-2609-B6EB51B7237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8" name="Freeform 9">
              <a:extLst>
                <a:ext uri="{FF2B5EF4-FFF2-40B4-BE49-F238E27FC236}">
                  <a16:creationId xmlns:a16="http://schemas.microsoft.com/office/drawing/2014/main" id="{4E258757-AB3A-DE10-FDFE-35B9588E9C3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9" name="Freeform 10">
              <a:extLst>
                <a:ext uri="{FF2B5EF4-FFF2-40B4-BE49-F238E27FC236}">
                  <a16:creationId xmlns:a16="http://schemas.microsoft.com/office/drawing/2014/main" id="{74360D36-2B50-3114-9CB9-4BEE96BCCE6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0" name="Freeform 11">
              <a:extLst>
                <a:ext uri="{FF2B5EF4-FFF2-40B4-BE49-F238E27FC236}">
                  <a16:creationId xmlns:a16="http://schemas.microsoft.com/office/drawing/2014/main" id="{1B032D16-0F2B-1DEC-D92A-ACAF24C07B0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1" name="Freeform 12">
              <a:extLst>
                <a:ext uri="{FF2B5EF4-FFF2-40B4-BE49-F238E27FC236}">
                  <a16:creationId xmlns:a16="http://schemas.microsoft.com/office/drawing/2014/main" id="{13923343-4541-4792-ADC5-E6333E98D37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C53F61BD-18EB-B863-761D-89639D8806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accent1"/>
                </a:solidFill>
              </a:defRPr>
            </a:lvl2pPr>
            <a:lvl3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97264879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4">
            <a:extLst>
              <a:ext uri="{FF2B5EF4-FFF2-40B4-BE49-F238E27FC236}">
                <a16:creationId xmlns:a16="http://schemas.microsoft.com/office/drawing/2014/main" id="{0C35C447-372A-2538-9C02-9DA22221296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24" name="Freeform 5">
              <a:extLst>
                <a:ext uri="{FF2B5EF4-FFF2-40B4-BE49-F238E27FC236}">
                  <a16:creationId xmlns:a16="http://schemas.microsoft.com/office/drawing/2014/main" id="{CFF1AFD2-F993-B30A-2282-C04F1F65AF0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2F13F474-91EA-0185-733B-62682BD9F6E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6" name="Freeform 7">
              <a:extLst>
                <a:ext uri="{FF2B5EF4-FFF2-40B4-BE49-F238E27FC236}">
                  <a16:creationId xmlns:a16="http://schemas.microsoft.com/office/drawing/2014/main" id="{87072C05-B626-BAF9-5316-96EAB02420F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7" name="Freeform 8">
              <a:extLst>
                <a:ext uri="{FF2B5EF4-FFF2-40B4-BE49-F238E27FC236}">
                  <a16:creationId xmlns:a16="http://schemas.microsoft.com/office/drawing/2014/main" id="{AC6EA6C6-1057-DAC8-2609-B6EB51B7237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8" name="Freeform 9">
              <a:extLst>
                <a:ext uri="{FF2B5EF4-FFF2-40B4-BE49-F238E27FC236}">
                  <a16:creationId xmlns:a16="http://schemas.microsoft.com/office/drawing/2014/main" id="{4E258757-AB3A-DE10-FDFE-35B9588E9C3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9" name="Freeform 10">
              <a:extLst>
                <a:ext uri="{FF2B5EF4-FFF2-40B4-BE49-F238E27FC236}">
                  <a16:creationId xmlns:a16="http://schemas.microsoft.com/office/drawing/2014/main" id="{74360D36-2B50-3114-9CB9-4BEE96BCCE6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0" name="Freeform 11">
              <a:extLst>
                <a:ext uri="{FF2B5EF4-FFF2-40B4-BE49-F238E27FC236}">
                  <a16:creationId xmlns:a16="http://schemas.microsoft.com/office/drawing/2014/main" id="{1B032D16-0F2B-1DEC-D92A-ACAF24C07B0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1" name="Freeform 12">
              <a:extLst>
                <a:ext uri="{FF2B5EF4-FFF2-40B4-BE49-F238E27FC236}">
                  <a16:creationId xmlns:a16="http://schemas.microsoft.com/office/drawing/2014/main" id="{13923343-4541-4792-ADC5-E6333E98D37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C53F61BD-18EB-B863-761D-89639D8806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accent1"/>
                </a:solidFill>
              </a:defRPr>
            </a:lvl2pPr>
            <a:lvl3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06689727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E0DA90-2FF2-F36C-F9FF-CD7A192F00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bg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bg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bg1"/>
                </a:solidFill>
              </a:defRPr>
            </a:lvl2pPr>
            <a:lvl3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714C7637-5E21-BDDB-D675-718E58535D6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17" name="Freeform 5">
              <a:extLst>
                <a:ext uri="{FF2B5EF4-FFF2-40B4-BE49-F238E27FC236}">
                  <a16:creationId xmlns:a16="http://schemas.microsoft.com/office/drawing/2014/main" id="{A57B56D4-851E-7242-EAB1-CD5B53E8B9A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525FF1F4-36F0-A184-7B99-8F5F4A49C89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7">
              <a:extLst>
                <a:ext uri="{FF2B5EF4-FFF2-40B4-BE49-F238E27FC236}">
                  <a16:creationId xmlns:a16="http://schemas.microsoft.com/office/drawing/2014/main" id="{F198715B-A90B-9B06-A055-401A84B0921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8">
              <a:extLst>
                <a:ext uri="{FF2B5EF4-FFF2-40B4-BE49-F238E27FC236}">
                  <a16:creationId xmlns:a16="http://schemas.microsoft.com/office/drawing/2014/main" id="{9D2E04D5-A2EE-135D-A8C9-6E695F9BCF3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2" name="Freeform 9">
              <a:extLst>
                <a:ext uri="{FF2B5EF4-FFF2-40B4-BE49-F238E27FC236}">
                  <a16:creationId xmlns:a16="http://schemas.microsoft.com/office/drawing/2014/main" id="{8CE0DC1F-799B-3F7A-3A71-D20337A4746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3" name="Freeform 10">
              <a:extLst>
                <a:ext uri="{FF2B5EF4-FFF2-40B4-BE49-F238E27FC236}">
                  <a16:creationId xmlns:a16="http://schemas.microsoft.com/office/drawing/2014/main" id="{E8EAEE22-055F-6869-D50D-D9C8C9082FD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4" name="Freeform 11">
              <a:extLst>
                <a:ext uri="{FF2B5EF4-FFF2-40B4-BE49-F238E27FC236}">
                  <a16:creationId xmlns:a16="http://schemas.microsoft.com/office/drawing/2014/main" id="{EADAC67C-850F-96D3-0962-09E1B4CC3EC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12">
              <a:extLst>
                <a:ext uri="{FF2B5EF4-FFF2-40B4-BE49-F238E27FC236}">
                  <a16:creationId xmlns:a16="http://schemas.microsoft.com/office/drawing/2014/main" id="{683187A0-2E68-170D-55EF-0FA20E7A75B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62882915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98F30683-44FB-4995-47C3-43A7DE5523C7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77A24E86-91AA-6A9B-314A-752B77481A0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A879B37A-F4A9-2DDA-3FC3-9FC52384AE6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93DABC58-132F-2F2F-EB5B-78B30A3D44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8">
              <a:extLst>
                <a:ext uri="{FF2B5EF4-FFF2-40B4-BE49-F238E27FC236}">
                  <a16:creationId xmlns:a16="http://schemas.microsoft.com/office/drawing/2014/main" id="{DFE51362-844C-B4F1-1A83-A287F312E94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9">
              <a:extLst>
                <a:ext uri="{FF2B5EF4-FFF2-40B4-BE49-F238E27FC236}">
                  <a16:creationId xmlns:a16="http://schemas.microsoft.com/office/drawing/2014/main" id="{E0F57AAB-C462-6A3A-9686-048341EA78B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8A0D371A-82CE-1829-AA32-FB790C7A60A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EA0DE082-4D8F-8158-56B4-AF85C4A0FA2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530CFB56-59E9-38CF-519A-B532B32547A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23" name="Title 1">
            <a:extLst>
              <a:ext uri="{FF2B5EF4-FFF2-40B4-BE49-F238E27FC236}">
                <a16:creationId xmlns:a16="http://schemas.microsoft.com/office/drawing/2014/main" id="{FB5434B5-DD4C-F988-6EBA-085A7DD494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1E34748E-CBEF-26E7-AB9F-696FA5D599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bg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1DF2DBC8-2D33-BD84-A330-691C8B97975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bg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bg1"/>
                </a:solidFill>
              </a:defRPr>
            </a:lvl2pPr>
            <a:lvl3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79999131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8481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122023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483203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238870"/>
            <a:ext cx="5163243" cy="3190130"/>
          </a:xfrm>
        </p:spPr>
        <p:txBody>
          <a:bodyPr/>
          <a:lstStyle>
            <a:lvl1pPr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819"/>
            <a:ext cx="5777508" cy="3101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C35426-417C-E41E-5A03-5974D3C79A0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75161828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7466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1846384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8526107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0358580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2019597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0747767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4756086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8663662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36248034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3706673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0980370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4231540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934480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475397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8019243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025"/>
            <a:ext cx="9984000" cy="5934075"/>
          </a:xfrm>
        </p:spPr>
        <p:txBody>
          <a:bodyPr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A8D6E0-472D-9B14-F3A6-BC2F23E87040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467749574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21AD4-68E5-D832-D55C-9ACFCD153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11EA1B-04BA-0493-81EB-3E7823E19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22947-0466-77E3-9884-7FFF54F0F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5A24D7B-41EB-9794-42AE-564F6680E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4EAC6AD-293C-6C12-F9F6-48F5FCB0E4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75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73696074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21AD4-68E5-D832-D55C-9ACFCD153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11EA1B-04BA-0493-81EB-3E7823E19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22947-0466-77E3-9884-7FFF54F0F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5A24D7B-41EB-9794-42AE-564F6680E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4EAC6AD-293C-6C12-F9F6-48F5FCB0E4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75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49257883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21AD4-68E5-D832-D55C-9ACFCD153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11EA1B-04BA-0493-81EB-3E7823E19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22947-0466-77E3-9884-7FFF54F0F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5A24D7B-41EB-9794-42AE-564F6680E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4EAC6AD-293C-6C12-F9F6-48F5FCB0E4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75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6803618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11/03/2026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01609BCD-EF9A-DF89-AAD2-167090C57F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bg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73995235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39635899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206395976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773322227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65065361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93569060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863226118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200704966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188784684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041354154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1339553058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640183430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74509294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785877609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4240842164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782778189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306752833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115991555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2859685012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3"/>
            <a:ext cx="12193489" cy="6857999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960433404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98C9DEC1-150C-501B-2DF1-6E2CB499B66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  <a:solidFill>
            <a:schemeClr val="accent1"/>
          </a:solidFill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E39A89AD-BEB6-79FD-8F05-4DF88E68FEE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733ED1C0-423D-3BA1-7D76-5AD063DB496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24321CB6-88B2-41D3-45AD-465FCCF9FFB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28DF50ED-77B5-2CCB-445E-BE59A74640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3E46F43E-7289-80AB-2776-B413EE27ED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0C82D5C3-8445-8837-27CE-3B93EA4FA45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2D962E7C-3E08-D166-19E4-74C49227872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F4041540-D57A-59CB-04E7-A52B58E1F12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148999050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98C9DEC1-150C-501B-2DF1-6E2CB499B66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  <a:solidFill>
            <a:schemeClr val="accent1"/>
          </a:solidFill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E39A89AD-BEB6-79FD-8F05-4DF88E68FEE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733ED1C0-423D-3BA1-7D76-5AD063DB496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24321CB6-88B2-41D3-45AD-465FCCF9FFB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28DF50ED-77B5-2CCB-445E-BE59A74640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3E46F43E-7289-80AB-2776-B413EE27ED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0C82D5C3-8445-8837-27CE-3B93EA4FA45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2D962E7C-3E08-D166-19E4-74C49227872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F4041540-D57A-59CB-04E7-A52B58E1F12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658548261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98C9DEC1-150C-501B-2DF1-6E2CB499B66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  <a:solidFill>
            <a:schemeClr val="accent1"/>
          </a:solidFill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E39A89AD-BEB6-79FD-8F05-4DF88E68FEE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733ED1C0-423D-3BA1-7D76-5AD063DB496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24321CB6-88B2-41D3-45AD-465FCCF9FFB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28DF50ED-77B5-2CCB-445E-BE59A74640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3E46F43E-7289-80AB-2776-B413EE27ED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0C82D5C3-8445-8837-27CE-3B93EA4FA45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2D962E7C-3E08-D166-19E4-74C49227872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F4041540-D57A-59CB-04E7-A52B58E1F12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211696665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8F1E4B3C-5470-00F2-B8CB-BB4906CF439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7D7A316D-6FA6-8EBE-A7B4-43071E70A86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11C06CEA-028D-9197-2DEF-67878595AE6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DEA93E8D-A827-0EF8-FC25-4EDF7B194E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DF359F29-A6DD-FD4C-F807-701DEA41EDF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2468BF6B-AEBB-4CAA-244D-9EBE80B9A1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CC60AC05-547F-FA65-604E-4ED4912EA9E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7632E58E-1400-1E6E-BB60-7A9B794F41F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4D65D159-581D-F29B-BBD4-C1C5BACCEEF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4250105972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Image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3A87AD45-2D2F-D96C-947C-BAE35BFEBEE3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31EDC35F-4F2D-B2A7-1ECD-0CF19D1AD28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97F4776F-4E5E-13DF-F11A-A6808FFFC98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BA993AE1-6A24-5C17-7FE2-A16589D9C4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DA87F8EF-CDAD-15A2-A361-88921E1CAF7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E90186DB-2300-A8AA-8FAD-2C609649A61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31922286-E237-1114-3A54-E1731611D66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1B4DA78C-0EF6-B05D-F2D2-EFEDA343E39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A00F92FE-6EB2-0D0E-BFC9-559AD1E7A4E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216125896"/>
      </p:ext>
    </p:extLst>
  </p:cSld>
  <p:clrMapOvr>
    <a:masterClrMapping/>
  </p:clrMapOvr>
  <p:transition>
    <p:fade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90130"/>
            <a:ext cx="5606484" cy="740845"/>
          </a:xfrm>
        </p:spPr>
        <p:txBody>
          <a:bodyPr anchor="b"/>
          <a:lstStyle>
            <a:lvl1pPr>
              <a:defRPr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B9815FA8-AE01-67BC-5B0D-996D4CDAD19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FB1AA775-4CCE-276F-2BCF-CDB5A9211F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D0FDD9D0-D471-8D20-94AE-C3BC73F88F8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CD6C2A08-9069-9582-5D59-A51210F8CB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10C2D08-4FE4-C1FC-5226-E7A45B13D65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8010D1AF-A77E-06AA-9B05-D1DD5EE8309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98B53AE0-4719-5655-6BA0-0E7E9ECB8EC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AD6D1E9-D44F-9A59-4CB4-033C25A77DA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F58ED361-0E2C-77F6-2830-FBB60D74648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761819100"/>
      </p:ext>
    </p:extLst>
  </p:cSld>
  <p:clrMapOvr>
    <a:masterClrMapping/>
  </p:clrMapOvr>
  <p:transition>
    <p:fade/>
  </p:transition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90130"/>
            <a:ext cx="5606484" cy="740845"/>
          </a:xfrm>
        </p:spPr>
        <p:txBody>
          <a:bodyPr anchor="b"/>
          <a:lstStyle>
            <a:lvl1pPr>
              <a:defRPr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B9815FA8-AE01-67BC-5B0D-996D4CDAD19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FB1AA775-4CCE-276F-2BCF-CDB5A9211F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D0FDD9D0-D471-8D20-94AE-C3BC73F88F8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CD6C2A08-9069-9582-5D59-A51210F8CB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10C2D08-4FE4-C1FC-5226-E7A45B13D65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8010D1AF-A77E-06AA-9B05-D1DD5EE8309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98B53AE0-4719-5655-6BA0-0E7E9ECB8EC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AD6D1E9-D44F-9A59-4CB4-033C25A77DA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F58ED361-0E2C-77F6-2830-FBB60D74648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2408184500"/>
      </p:ext>
    </p:extLst>
  </p:cSld>
  <p:clrMapOvr>
    <a:masterClrMapping/>
  </p:clrMapOvr>
  <p:transition>
    <p:fade/>
  </p:transition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90130"/>
            <a:ext cx="5606484" cy="740845"/>
          </a:xfrm>
        </p:spPr>
        <p:txBody>
          <a:bodyPr anchor="b"/>
          <a:lstStyle>
            <a:lvl1pPr>
              <a:defRPr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B9815FA8-AE01-67BC-5B0D-996D4CDAD19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FB1AA775-4CCE-276F-2BCF-CDB5A9211F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D0FDD9D0-D471-8D20-94AE-C3BC73F88F8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CD6C2A08-9069-9582-5D59-A51210F8CB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10C2D08-4FE4-C1FC-5226-E7A45B13D65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8010D1AF-A77E-06AA-9B05-D1DD5EE8309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98B53AE0-4719-5655-6BA0-0E7E9ECB8EC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AD6D1E9-D44F-9A59-4CB4-033C25A77DA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F58ED361-0E2C-77F6-2830-FBB60D74648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595170055"/>
      </p:ext>
    </p:extLst>
  </p:cSld>
  <p:clrMapOvr>
    <a:masterClrMapping/>
  </p:clrMapOvr>
  <p:transition>
    <p:fade/>
  </p:transition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878288"/>
            <a:ext cx="5606484" cy="652688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49CC1682-CCAA-5EE1-585E-F7C4434F1C5E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770403FB-3386-A0FE-3E9D-A2925EF0E8F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C2CDC1DE-179E-04D4-B493-BF069DE85D6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B9A68412-C85B-6332-8B98-2635795BBA0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9ECB875-34C4-65FF-6CDA-1356F6BC767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D3B5B848-7A8D-931B-DFC2-C5B37B8DB6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361AABDF-9542-DBC6-6388-ABE2035BE7B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57C10C3-A39D-D1F6-3C50-91EC9A5E76E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E4DD9B4A-92B0-0B9A-755B-A13B032A85A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3000926829"/>
      </p:ext>
    </p:extLst>
  </p:cSld>
  <p:clrMapOvr>
    <a:masterClrMapping/>
  </p:clrMapOvr>
  <p:transition>
    <p:fade/>
  </p:transition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36668-9440-2FC4-1A20-CEA2160E1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A156BD-F388-30EA-2720-04061953B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FDBFEE-0509-16B7-5DAE-5E0DB02D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AB126A-2C1E-4241-BBEB-C3AA6FE62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2358139-EACE-E729-C3E3-AD890A6D0F80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11818251"/>
      </p:ext>
    </p:extLst>
  </p:cSld>
  <p:clrMapOvr>
    <a:masterClrMapping/>
  </p:clrMapOvr>
  <p:transition>
    <p:fade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36668-9440-2FC4-1A20-CEA2160E1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A156BD-F388-30EA-2720-04061953B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FDBFEE-0509-16B7-5DAE-5E0DB02D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AB126A-2C1E-4241-BBEB-C3AA6FE62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2358139-EACE-E729-C3E3-AD890A6D0F80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015067"/>
      </p:ext>
    </p:extLst>
  </p:cSld>
  <p:clrMapOvr>
    <a:masterClrMapping/>
  </p:clrMapOvr>
  <p:transition>
    <p:fade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36668-9440-2FC4-1A20-CEA2160E1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A156BD-F388-30EA-2720-04061953B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FDBFEE-0509-16B7-5DAE-5E0DB02D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AB126A-2C1E-4241-BBEB-C3AA6FE62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2358139-EACE-E729-C3E3-AD890A6D0F80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8909866"/>
      </p:ext>
    </p:extLst>
  </p:cSld>
  <p:clrMapOvr>
    <a:masterClrMapping/>
  </p:clrMapOvr>
  <p:transition>
    <p:fade/>
  </p:transition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B01DE9-7247-71C2-3301-8F43BD947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F1F649-B08E-D628-15EF-6CAEE9855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0EDFB5-B3BA-ADA8-4600-FCDAFA1A8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4464979"/>
      </p:ext>
    </p:extLst>
  </p:cSld>
  <p:clrMapOvr>
    <a:masterClrMapping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B01DE9-7247-71C2-3301-8F43BD947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F1F649-B08E-D628-15EF-6CAEE9855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0EDFB5-B3BA-ADA8-4600-FCDAFA1A8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7168227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B01DE9-7247-71C2-3301-8F43BD947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F1F649-B08E-D628-15EF-6CAEE9855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0EDFB5-B3BA-ADA8-4600-FCDAFA1A8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8112911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63" Type="http://schemas.openxmlformats.org/officeDocument/2006/relationships/slideLayout" Target="../slideLayouts/slideLayout6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0F4440-CEDC-0D92-E0D5-5C1E3B59B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CA021F-8558-9528-DA3D-486CCDBEB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6232" y="1394619"/>
            <a:ext cx="11541025" cy="486648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D1A8F0-AC4B-E4A0-94D0-99C4BFD973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50">
                <a:solidFill>
                  <a:schemeClr val="accent1"/>
                </a:solidFill>
              </a:defRPr>
            </a:lvl1pPr>
          </a:lstStyle>
          <a:p>
            <a:r>
              <a:rPr lang="en-US"/>
              <a:t>11/03/2026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0FC7A-298A-77A0-6596-56B0B3FD8C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850">
                <a:solidFill>
                  <a:schemeClr val="accent1"/>
                </a:solidFill>
              </a:defRPr>
            </a:lvl1pPr>
          </a:lstStyle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17C40-7EB7-0CFD-6F6C-54AE57DE1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>
              <a:defRPr sz="850" b="1">
                <a:solidFill>
                  <a:schemeClr val="accent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6CDD9-97E9-735B-8549-0F3AE3CCAC5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accent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145082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79" r:id="rId2"/>
    <p:sldLayoutId id="2147483680" r:id="rId3"/>
    <p:sldLayoutId id="2147483649" r:id="rId4"/>
    <p:sldLayoutId id="2147483657" r:id="rId5"/>
    <p:sldLayoutId id="2147483658" r:id="rId6"/>
    <p:sldLayoutId id="2147483681" r:id="rId7"/>
    <p:sldLayoutId id="2147483682" r:id="rId8"/>
    <p:sldLayoutId id="2147483675" r:id="rId9"/>
    <p:sldLayoutId id="2147483650" r:id="rId10"/>
    <p:sldLayoutId id="2147483683" r:id="rId11"/>
    <p:sldLayoutId id="2147483684" r:id="rId12"/>
    <p:sldLayoutId id="2147483652" r:id="rId13"/>
    <p:sldLayoutId id="2147483685" r:id="rId14"/>
    <p:sldLayoutId id="2147483686" r:id="rId15"/>
    <p:sldLayoutId id="2147483659" r:id="rId16"/>
    <p:sldLayoutId id="2147483687" r:id="rId17"/>
    <p:sldLayoutId id="2147483688" r:id="rId18"/>
    <p:sldLayoutId id="2147483660" r:id="rId19"/>
    <p:sldLayoutId id="2147483689" r:id="rId20"/>
    <p:sldLayoutId id="2147483690" r:id="rId21"/>
    <p:sldLayoutId id="2147483677" r:id="rId22"/>
    <p:sldLayoutId id="2147483691" r:id="rId23"/>
    <p:sldLayoutId id="2147483692" r:id="rId24"/>
    <p:sldLayoutId id="2147483676" r:id="rId25"/>
    <p:sldLayoutId id="2147483667" r:id="rId26"/>
    <p:sldLayoutId id="2147483693" r:id="rId27"/>
    <p:sldLayoutId id="2147483694" r:id="rId28"/>
    <p:sldLayoutId id="2147483666" r:id="rId29"/>
    <p:sldLayoutId id="2147483661" r:id="rId30"/>
    <p:sldLayoutId id="2147483695" r:id="rId31"/>
    <p:sldLayoutId id="2147483696" r:id="rId32"/>
    <p:sldLayoutId id="2147483669" r:id="rId33"/>
    <p:sldLayoutId id="2147483697" r:id="rId34"/>
    <p:sldLayoutId id="2147483698" r:id="rId35"/>
    <p:sldLayoutId id="2147483678" r:id="rId36"/>
    <p:sldLayoutId id="2147483699" r:id="rId37"/>
    <p:sldLayoutId id="2147483700" r:id="rId38"/>
    <p:sldLayoutId id="2147483662" r:id="rId39"/>
    <p:sldLayoutId id="2147483701" r:id="rId40"/>
    <p:sldLayoutId id="2147483702" r:id="rId41"/>
    <p:sldLayoutId id="2147483663" r:id="rId42"/>
    <p:sldLayoutId id="2147483703" r:id="rId43"/>
    <p:sldLayoutId id="2147483704" r:id="rId44"/>
    <p:sldLayoutId id="2147483664" r:id="rId45"/>
    <p:sldLayoutId id="2147483705" r:id="rId46"/>
    <p:sldLayoutId id="2147483706" r:id="rId47"/>
    <p:sldLayoutId id="2147483665" r:id="rId48"/>
    <p:sldLayoutId id="2147483671" r:id="rId49"/>
    <p:sldLayoutId id="2147483707" r:id="rId50"/>
    <p:sldLayoutId id="2147483708" r:id="rId51"/>
    <p:sldLayoutId id="2147483670" r:id="rId52"/>
    <p:sldLayoutId id="2147483672" r:id="rId53"/>
    <p:sldLayoutId id="2147483674" r:id="rId54"/>
    <p:sldLayoutId id="2147483709" r:id="rId55"/>
    <p:sldLayoutId id="2147483710" r:id="rId56"/>
    <p:sldLayoutId id="2147483673" r:id="rId57"/>
    <p:sldLayoutId id="2147483654" r:id="rId58"/>
    <p:sldLayoutId id="2147483711" r:id="rId59"/>
    <p:sldLayoutId id="2147483712" r:id="rId60"/>
    <p:sldLayoutId id="2147483655" r:id="rId61"/>
    <p:sldLayoutId id="2147483713" r:id="rId62"/>
    <p:sldLayoutId id="2147483714" r:id="rId63"/>
  </p:sldLayoutIdLst>
  <p:transition>
    <p:fade/>
  </p:transition>
  <p:hf hdr="0"/>
  <p:txStyles>
    <p:titleStyle>
      <a:lvl1pPr algn="l" defTabSz="685765" rtl="0" eaLnBrk="1" latinLnBrk="0" hangingPunct="1">
        <a:lnSpc>
          <a:spcPct val="90000"/>
        </a:lnSpc>
        <a:spcBef>
          <a:spcPct val="0"/>
        </a:spcBef>
        <a:buNone/>
        <a:defRPr sz="2600" b="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j-lt"/>
          <a:ea typeface="+mn-ea"/>
          <a:cs typeface="+mn-cs"/>
        </a:defRPr>
      </a:lvl2pPr>
      <a:lvl3pPr marL="161991" indent="-161991" algn="l" defTabSz="685765" rtl="0" eaLnBrk="1" latinLnBrk="0" hangingPunct="1">
        <a:lnSpc>
          <a:spcPct val="105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323984" indent="-161991" algn="l" defTabSz="685765" rtl="0" eaLnBrk="1" latinLnBrk="0" hangingPunct="1">
        <a:lnSpc>
          <a:spcPct val="105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485975" indent="-161991" algn="l" defTabSz="685765" rtl="0" eaLnBrk="1" latinLnBrk="0" hangingPunct="1">
        <a:lnSpc>
          <a:spcPct val="105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53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36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18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01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288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76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4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3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1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9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7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06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206" userDrawn="1">
          <p15:clr>
            <a:srgbClr val="F26B43"/>
          </p15:clr>
        </p15:guide>
        <p15:guide id="4" pos="7475" userDrawn="1">
          <p15:clr>
            <a:srgbClr val="F26B43"/>
          </p15:clr>
        </p15:guide>
        <p15:guide id="5" orient="horz" pos="207" userDrawn="1">
          <p15:clr>
            <a:srgbClr val="F26B43"/>
          </p15:clr>
        </p15:guide>
        <p15:guide id="6" orient="horz" pos="4114" userDrawn="1">
          <p15:clr>
            <a:srgbClr val="F26B43"/>
          </p15:clr>
        </p15:guide>
        <p15:guide id="7" orient="horz" pos="3944" userDrawn="1">
          <p15:clr>
            <a:srgbClr val="F26B43"/>
          </p15:clr>
        </p15:guide>
        <p15:guide id="8" orient="horz" pos="879" userDrawn="1">
          <p15:clr>
            <a:srgbClr val="F26B43"/>
          </p15:clr>
        </p15:guide>
        <p15:guide id="9" pos="3723" userDrawn="1">
          <p15:clr>
            <a:srgbClr val="F26B43"/>
          </p15:clr>
        </p15:guide>
        <p15:guide id="10" pos="395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7CC57-32B4-5651-C726-27956387C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80337-D626-AC7B-5E8D-3144BB4865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918580"/>
            <a:ext cx="9144000" cy="1847942"/>
          </a:xfrm>
        </p:spPr>
        <p:txBody>
          <a:bodyPr/>
          <a:lstStyle/>
          <a:p>
            <a:r>
              <a:rPr lang="en-GB" b="1" dirty="0"/>
              <a:t>FYP Interim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7FCD95-DD6E-BAAA-DD32-3D1E187DA7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2766521"/>
            <a:ext cx="11111656" cy="2497241"/>
          </a:xfrm>
        </p:spPr>
        <p:txBody>
          <a:bodyPr/>
          <a:lstStyle/>
          <a:p>
            <a:r>
              <a:rPr lang="en-US" i="1" dirty="0"/>
              <a:t>Leveraging Low-Precision Hardware for High-Fidelity CFD: Integrating the Ozaki Scheme into Nektar++</a:t>
            </a:r>
            <a:endParaRPr lang="en-GB" i="1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7ADEF3F-453F-A867-067C-B77BAD4676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Paul Kallarackel</a:t>
            </a:r>
          </a:p>
          <a:p>
            <a:r>
              <a:rPr lang="en-US" dirty="0"/>
              <a:t>11/03/2026</a:t>
            </a:r>
          </a:p>
        </p:txBody>
      </p:sp>
    </p:spTree>
    <p:extLst>
      <p:ext uri="{BB962C8B-B14F-4D97-AF65-F5344CB8AC3E}">
        <p14:creationId xmlns:p14="http://schemas.microsoft.com/office/powerpoint/2010/main" val="3035115975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9B2BF-E0B9-7428-EAAA-0A540B052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0BD28-6F7E-0A7D-1A9E-10E954BA9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238870"/>
            <a:ext cx="5163243" cy="3190130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30BBD6-6EC5-96F4-6E6C-8F90A73DFE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349" y="6393702"/>
            <a:ext cx="1233647" cy="137270"/>
          </a:xfrm>
        </p:spPr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1E4508-A1A4-0996-A7AC-D48A35977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261" y="6393702"/>
            <a:ext cx="3423452" cy="137272"/>
          </a:xfrm>
        </p:spPr>
        <p:txBody>
          <a:bodyPr/>
          <a:lstStyle/>
          <a:p>
            <a:r>
              <a:rPr lang="en-GB" dirty="0"/>
              <a:t>Project LRC001 – Paul Kallarackel - 02029025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A61E04-BACD-694E-DAED-0530BAF80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755" y="6393702"/>
            <a:ext cx="318491" cy="137272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2</a:t>
            </a:fld>
            <a:endParaRPr lang="en-GB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CB2DFB2-18C6-68B5-3F50-9C4AF273C9A6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687152772"/>
              </p:ext>
            </p:extLst>
          </p:nvPr>
        </p:nvGraphicFramePr>
        <p:xfrm>
          <a:off x="6096000" y="328613"/>
          <a:ext cx="5776912" cy="14737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13797">
                  <a:extLst>
                    <a:ext uri="{9D8B030D-6E8A-4147-A177-3AD203B41FA5}">
                      <a16:colId xmlns:a16="http://schemas.microsoft.com/office/drawing/2014/main" val="2312058624"/>
                    </a:ext>
                  </a:extLst>
                </a:gridCol>
                <a:gridCol w="5163115">
                  <a:extLst>
                    <a:ext uri="{9D8B030D-6E8A-4147-A177-3AD203B41FA5}">
                      <a16:colId xmlns:a16="http://schemas.microsoft.com/office/drawing/2014/main" val="2529335587"/>
                    </a:ext>
                  </a:extLst>
                </a:gridCol>
              </a:tblGrid>
              <a:tr h="240665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Problem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13600567"/>
                  </a:ext>
                </a:extLst>
              </a:tr>
              <a:tr h="240665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Current Literature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377395039"/>
                  </a:ext>
                </a:extLst>
              </a:tr>
              <a:tr h="240665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Our Approach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619643445"/>
                  </a:ext>
                </a:extLst>
              </a:tr>
              <a:tr h="240665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Proof of Concept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13601940"/>
                  </a:ext>
                </a:extLst>
              </a:tr>
              <a:tr h="240665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Issues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337709630"/>
                  </a:ext>
                </a:extLst>
              </a:tr>
              <a:tr h="240665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Next Steps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76934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2109094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4FBCA-4D7D-F121-1540-F4D96744B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72CF4E-E4FB-8FCC-A899-FF33864F4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3B46D1-F883-0F4A-8F3D-44F11C629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9E7FA3-B38D-947F-4794-49C2C5C93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3</a:t>
            </a:fld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08CD65-9320-B6FB-1A60-E6B5A3180A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3CAB9C-F161-A8DA-70F9-625A3F5B17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Emulating Double Precision</a:t>
            </a:r>
          </a:p>
        </p:txBody>
      </p:sp>
    </p:spTree>
    <p:extLst>
      <p:ext uri="{BB962C8B-B14F-4D97-AF65-F5344CB8AC3E}">
        <p14:creationId xmlns:p14="http://schemas.microsoft.com/office/powerpoint/2010/main" val="3744754738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A1311-4D63-76D6-233E-D21E99B72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D3A5B-2471-7FC5-5E83-992CEC6CD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F22D0D-3D5B-BCDE-BCBB-D71A84E5D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Modern HPC relies on GPUs, but NVIDIA's roadmap (e.g., Hopper, Blackwell) is overwhelmingly optimized for the AI market.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has led to massive performance gains in low-precision formats (FP8, FP16, TF32) used for AI.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 contrast, double-precision (FP64), which is critical for scientific codes like Nektar++, is a low priority. Its performance is stagnating, and on some new architectures, it's even emulated.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Project Goal (Overall):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Investigate methods to emulate high-precision FP64 operators in Nektar++ (like </a:t>
            </a:r>
            <a:r>
              <a:rPr lang="en-US" dirty="0" err="1">
                <a:latin typeface="Courier New" panose="02070309020205020404" pitchFamily="49" charset="0"/>
              </a:rPr>
              <a:t>Dgemm</a:t>
            </a:r>
            <a:r>
              <a:rPr lang="en-US" dirty="0"/>
              <a:t>) using the faster, low-precision FP32 (</a:t>
            </a:r>
            <a:r>
              <a:rPr lang="en-US" dirty="0" err="1">
                <a:latin typeface="Courier New" panose="02070309020205020404" pitchFamily="49" charset="0"/>
              </a:rPr>
              <a:t>Sgemm</a:t>
            </a:r>
            <a:r>
              <a:rPr lang="en-US" dirty="0"/>
              <a:t>) hardware.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latin typeface="Google Sans Text"/>
              </a:rPr>
              <a:t>Short-Term Goal (Pre-Xmas):</a:t>
            </a:r>
            <a:endParaRPr lang="en-US" altLang="en-US" dirty="0"/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Google Sans Text"/>
              </a:rPr>
              <a:t>Implement a POC that emulates a DGEMM call with SGEMM</a:t>
            </a:r>
            <a:r>
              <a:rPr lang="en-US" altLang="en-US" sz="500" dirty="0">
                <a:latin typeface="Google Sans Text"/>
              </a:rPr>
              <a:t>.</a:t>
            </a:r>
            <a:endParaRPr lang="en-US" altLang="en-US" dirty="0">
              <a:latin typeface="Google Sans Text"/>
            </a:endParaRPr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Google Sans Text"/>
              </a:rPr>
              <a:t>Success Criteria:</a:t>
            </a:r>
            <a:r>
              <a:rPr lang="en-US" altLang="en-US" dirty="0">
                <a:latin typeface="Google Sans Text"/>
              </a:rPr>
              <a:t> The emulated result must match the machine error epsilon of 10^-15.</a:t>
            </a:r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Google Sans Text"/>
              </a:rPr>
              <a:t>Metrics:</a:t>
            </a:r>
            <a:r>
              <a:rPr lang="en-US" altLang="en-US" dirty="0">
                <a:latin typeface="Google Sans Text"/>
              </a:rPr>
              <a:t> Monitor performance (TFLOPS) and accuracy (max relative error) against the native FP64 baseline.</a:t>
            </a:r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CC3F59-89A3-D103-B47E-3834C40E6D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00294F-73F3-3D6D-AA32-00A6ABB32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19D75D-B9A1-BB06-6A30-80BB0599B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4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B15ACDF4-426F-F7B9-3138-F5071F3516B6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Emulating Double Precision</a:t>
            </a:r>
          </a:p>
        </p:txBody>
      </p:sp>
    </p:spTree>
    <p:extLst>
      <p:ext uri="{BB962C8B-B14F-4D97-AF65-F5344CB8AC3E}">
        <p14:creationId xmlns:p14="http://schemas.microsoft.com/office/powerpoint/2010/main" val="303138996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3D0EB-F966-9A1F-DC34-45DAFBD86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4B848D-E4DD-809B-1F0F-38B7C9761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5407B4-1043-DB83-00DB-5DDE3FC8C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358229-8FCA-7D89-7531-E6C94A979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41D7F6-171D-FF6F-04B2-EAC913D302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Current Literature	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5A70ED-45B7-8F28-A486-2A845D8F6E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Ozaki Algorithm</a:t>
            </a:r>
          </a:p>
        </p:txBody>
      </p:sp>
    </p:spTree>
    <p:extLst>
      <p:ext uri="{BB962C8B-B14F-4D97-AF65-F5344CB8AC3E}">
        <p14:creationId xmlns:p14="http://schemas.microsoft.com/office/powerpoint/2010/main" val="3024457677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98833-C24C-5942-C241-CB34D7A21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566AE-B160-2131-E5FB-F051DB2D5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Literature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34229-7548-DA18-0E5A-059E810DA6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work focuses on increasing accuracy for FP64, not emulation. It's designed to compute results more accurately than a standard </a:t>
            </a:r>
            <a:r>
              <a:rPr lang="en-US" dirty="0" err="1"/>
              <a:t>Dgemm</a:t>
            </a:r>
            <a:r>
              <a:rPr lang="en-US" dirty="0"/>
              <a:t> by eliminating roundoff error. Key Technique: An "Error-Free Transformation" (EFT) that splits one double (FP64) into a sum of two other doubles.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The first term is error free since the beta (separator) is chosen strategically such that the bits from A and B including those required for carry fit inside a double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79AEE0-C537-265F-729C-B1E13F98F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2649B5-463C-E893-A61E-82A9029E0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0F1A90-4542-222D-966B-5A5170166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6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14A818E-ED38-3269-D066-FA7749845F22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Ozaki Algorithm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B9F198C-A536-C174-4E2C-61551C58A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7" y="2494173"/>
            <a:ext cx="6087325" cy="13336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8D4482D-B1FE-02B2-B6CF-19C42F6F2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4950" y="4971414"/>
            <a:ext cx="4945279" cy="1731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5504000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F3FBA-38D0-16BE-5E59-EECA8085B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68ABC-0B1D-9B37-9872-066F0125A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608650-8656-D827-4941-630753BE8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9E27C-FED7-6589-E4AF-732FF6365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7</a:t>
            </a:fld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126516-6572-7555-AB4C-7CE05D82E1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Our Approach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73FB01-0A11-EE8C-27FA-CBF64A43FA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Adapting for FP32</a:t>
            </a:r>
          </a:p>
        </p:txBody>
      </p:sp>
    </p:spTree>
    <p:extLst>
      <p:ext uri="{BB962C8B-B14F-4D97-AF65-F5344CB8AC3E}">
        <p14:creationId xmlns:p14="http://schemas.microsoft.com/office/powerpoint/2010/main" val="3419098152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C35DA-9D50-7087-D7EF-01775A40A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6E6CE-F7F5-F5E6-23CE-11AA17319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71C777-9F6F-02E8-FB83-8A797246E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Our goal is different: we want to use fast FP32 hardware.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We must split one FP64 (53 bits) into a sum of multiple FP32s (24 bits each).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Key Difference:</a:t>
            </a:r>
            <a:r>
              <a:rPr lang="en-US" dirty="0"/>
              <a:t> In Method 1, the individual </a:t>
            </a:r>
            <a:r>
              <a:rPr lang="en-US" dirty="0" err="1"/>
              <a:t>Sgemm</a:t>
            </a:r>
            <a:r>
              <a:rPr lang="en-US" dirty="0"/>
              <a:t> calls </a:t>
            </a:r>
            <a:r>
              <a:rPr lang="en-US" i="1" dirty="0"/>
              <a:t>have</a:t>
            </a:r>
            <a:r>
              <a:rPr lang="en-US" dirty="0"/>
              <a:t> error, but the final 120-bit sum should be accurate. In Method 2, the </a:t>
            </a:r>
            <a:r>
              <a:rPr lang="en-US" dirty="0" err="1"/>
              <a:t>Sgemm</a:t>
            </a:r>
            <a:r>
              <a:rPr lang="en-US" dirty="0"/>
              <a:t> calls are </a:t>
            </a:r>
            <a:r>
              <a:rPr lang="en-US" i="1" dirty="0"/>
              <a:t>error-free</a:t>
            </a:r>
            <a:r>
              <a:rPr lang="en-US" dirty="0"/>
              <a:t>, but it's much more expensive.</a:t>
            </a: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B4568E-5490-DF59-E095-442FD56C8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0D8F59-E81E-C07E-52D5-B28FE9656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4B4D3C-4C55-5BD9-E15D-3748F91EA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8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C36E0BA-45C7-B303-42F7-CD4363C5FDF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Adapting for FP32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FC50DF4-44C9-B3DD-1A9E-FA2C47325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78" y="2122610"/>
            <a:ext cx="9583487" cy="2000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772073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01790-B749-D57E-ED2C-F9F03BFE8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D0BB6-E53A-B949-B7C2-47092CCEF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78A9F-1652-7F7B-ACE0-F5227A8FCF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9A61F9-909E-7050-D707-7C6F8CE50A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6435B5-2FA4-A00B-D494-2EC677E49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E5D998-CC2C-9C80-F491-91EB35F9B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9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BC42C9E4-B052-7D0A-CEB8-087DD03BC495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Adapting for FP32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174EAC7-5374-5FC6-56CC-02F1F06D4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441" y="1528619"/>
            <a:ext cx="9939117" cy="4078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2672114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B312C-E2F1-6CC7-84CF-B03E2A70D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6028C-C85B-1BB3-0887-AAC354B28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A8C13-0877-5AFE-18FB-D3F43CE366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97B66D-815C-8764-47FF-EC4C28ABF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034925-14A4-D0E5-2FBA-E6589D783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16BD39-FD61-A924-6E80-081B09E09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10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123B71F-6192-647D-1968-ECFEC4B90B63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Adapting for FP32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BAB6CFE-06BA-4C75-1683-C0ED5513F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892" y="1445420"/>
            <a:ext cx="10260514" cy="413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5961388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92429-79E2-DD1F-A1EF-0901CDD17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4A0E1B-3CDC-3290-151C-C093A2954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88E43-C7E7-4ED9-8D70-174607F96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A24C-ABD3-DFFB-6272-AFC1F1CD9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11</a:t>
            </a:fld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000603-DDDB-B1F9-DDB5-EEEB725910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Proof of Concept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F9809-EA14-4046-3708-F273C0428AF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Current Status</a:t>
            </a:r>
          </a:p>
        </p:txBody>
      </p:sp>
    </p:spTree>
    <p:extLst>
      <p:ext uri="{BB962C8B-B14F-4D97-AF65-F5344CB8AC3E}">
        <p14:creationId xmlns:p14="http://schemas.microsoft.com/office/powerpoint/2010/main" val="1862191460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E99D4-A61B-8C95-F959-90C90CB88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8E347-587D-5485-BA57-E7A208E8E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 of Concept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91FE84-4178-8DD8-4F34-590BEC6C0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4BEE52-0EE9-C090-435F-AC1ABC44B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42A476-CB42-9F84-A541-F89683FE4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12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F49B0B3-3276-8E77-29C2-EFF0FDD13C17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Current Status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74DCABA3-582D-C956-BD09-426C434A9B3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5800" y="4274552"/>
            <a:ext cx="184731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" name="Rectangle 4">
            <a:extLst>
              <a:ext uri="{FF2B5EF4-FFF2-40B4-BE49-F238E27FC236}">
                <a16:creationId xmlns:a16="http://schemas.microsoft.com/office/drawing/2014/main" id="{CC1965E0-022B-59F4-C41A-8D24427636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5556" y="1650623"/>
            <a:ext cx="10961077" cy="877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PoC Goal: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Have a working algorithm that emulates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Dgemm</a:t>
            </a:r>
            <a:r>
              <a:rPr kumimoji="0" lang="en-US" altLang="en-US" sz="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precision (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$\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approx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10^{-15}$) before Christmas.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Current Status: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I have successfully implemented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Method 1 (the 25-call "Penta-Single" method)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in a complete CUDA script.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3B26FDB-40B5-21BF-0B59-E32449E36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394" y="2807131"/>
            <a:ext cx="8935697" cy="3258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383442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AC8EF-7D59-0124-E6A3-2C1B2620F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493885-7DD2-6160-519B-AA66F1A67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9CB117-86E7-EF90-466B-C8499ED5F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4B71D1-1F7B-F119-BDF2-7F38D52D6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13</a:t>
            </a:fld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302657-D121-198B-4633-1D76B504CE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Issues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2D21F-B97B-7DD8-260C-B43F128E83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My current blockers</a:t>
            </a:r>
          </a:p>
        </p:txBody>
      </p:sp>
    </p:spTree>
    <p:extLst>
      <p:ext uri="{BB962C8B-B14F-4D97-AF65-F5344CB8AC3E}">
        <p14:creationId xmlns:p14="http://schemas.microsoft.com/office/powerpoint/2010/main" val="989698980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A1D4C-8D9B-7FE9-AB6C-630C947F1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E41FF-208E-8F63-0911-C6CEB50EB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508F3-A915-0044-CA37-B10117CA3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277425-6650-A1CC-6DF7-3CC12D37E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C3CA5C-08F2-DD73-9A9A-C80C3283D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14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94A2CFF-4B18-1DA3-7B52-CF5D1567C0D2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My current blockers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200C5237-9A07-967D-C031-126ED380CAD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5800" y="4274552"/>
            <a:ext cx="184731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F6C74316-78DA-85EE-D8D5-2B8B803AF4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800" y="1111105"/>
            <a:ext cx="11094126" cy="39241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The Blocker: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The PoC is currently failing its accuracy goal.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The Symptom: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The max relative error is stuck at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10^-7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Analysis: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This is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exactly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the machine epsilon for a single-precision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float</a:t>
            </a:r>
            <a:r>
              <a:rPr kumimoji="0" lang="en-US" altLang="en-US" sz="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.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Uncertainties: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Is the split kernel wrong?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(Unlikely, as unit tests pass, but is it numerically unstable?)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Is the "full-fill" (Method 1) idea fundamentally flawed?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Does the $\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approx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10^{-7}$ error from the $A_1 B_1$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Sgemm</a:t>
            </a:r>
            <a:r>
              <a:rPr kumimoji="0" lang="en-US" altLang="en-US" sz="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call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irreversibly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pollute the result, making it impossible to add back the smaller correction terms?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AE02A24-0509-C8A5-CC7E-54F4BB087D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97" y="2390630"/>
            <a:ext cx="8916644" cy="103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511726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2D868-BEF3-10F5-3E89-6111B77B4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4A553-0415-E9C7-39EC-0A6551CE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3998C-1BF2-D173-269E-27F76CFA1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1B697C-71FF-A49B-BF09-D1A484F92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15</a:t>
            </a:fld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2B8D30-56A8-C276-9F0B-3D2E2DD0A5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7A05F-3F8E-1E0B-E619-C8F54EFA5A9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Solving blockers</a:t>
            </a:r>
          </a:p>
        </p:txBody>
      </p:sp>
    </p:spTree>
    <p:extLst>
      <p:ext uri="{BB962C8B-B14F-4D97-AF65-F5344CB8AC3E}">
        <p14:creationId xmlns:p14="http://schemas.microsoft.com/office/powerpoint/2010/main" val="1959437374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0E540-3549-BA69-7549-7A9B75A70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619AC-F626-9514-BC27-6F9A49E38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7BF41E-E578-3879-7F2F-5EA7B35A0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21773B-12F3-AF15-B965-2EEC35B48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F63636-C21C-D8B5-1886-56D6DC9C0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16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39BA4930-9ED4-B14A-B889-B458C2F24B0C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Solving Blockers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74B39D70-47A6-9D8E-2E63-58C3E03AEBA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5800" y="4274552"/>
            <a:ext cx="184731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4DA89D-8732-B3A0-15AD-D4093487A448}"/>
              </a:ext>
            </a:extLst>
          </p:cNvPr>
          <p:cNvSpPr txBox="1"/>
          <p:nvPr/>
        </p:nvSpPr>
        <p:spPr>
          <a:xfrm>
            <a:off x="568518" y="1550504"/>
            <a:ext cx="11255072" cy="43652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05000"/>
              </a:lnSpc>
            </a:pPr>
            <a:endParaRPr lang="en-GB" sz="1600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E91E58-FBD9-2E26-AF32-93E759473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9079" y="1145897"/>
            <a:ext cx="6325063" cy="5174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528004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C92A0-DAFD-2CE4-F5BD-315A0135C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500" y="3338513"/>
            <a:ext cx="9144000" cy="182880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972F5-B010-8428-D0AA-F619C83E71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00" y="5878513"/>
            <a:ext cx="5606257" cy="652463"/>
          </a:xfrm>
        </p:spPr>
        <p:txBody>
          <a:bodyPr/>
          <a:lstStyle/>
          <a:p>
            <a:r>
              <a:rPr lang="en-US" dirty="0"/>
              <a:t>Presentation Title</a:t>
            </a:r>
          </a:p>
          <a:p>
            <a:r>
              <a:rPr lang="en-US" dirty="0"/>
              <a:t>DD/MM/YYYY</a:t>
            </a:r>
          </a:p>
        </p:txBody>
      </p:sp>
    </p:spTree>
    <p:extLst>
      <p:ext uri="{BB962C8B-B14F-4D97-AF65-F5344CB8AC3E}">
        <p14:creationId xmlns:p14="http://schemas.microsoft.com/office/powerpoint/2010/main" val="2287451629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ICL PPT Theme">
  <a:themeElements>
    <a:clrScheme name="Imperial colour theme">
      <a:dk1>
        <a:sysClr val="windowText" lastClr="000000"/>
      </a:dk1>
      <a:lt1>
        <a:sysClr val="window" lastClr="FFFFFF"/>
      </a:lt1>
      <a:dk2>
        <a:srgbClr val="000080"/>
      </a:dk2>
      <a:lt2>
        <a:srgbClr val="F5F5F5"/>
      </a:lt2>
      <a:accent1>
        <a:srgbClr val="0000CD"/>
      </a:accent1>
      <a:accent2>
        <a:srgbClr val="C71585"/>
      </a:accent2>
      <a:accent3>
        <a:srgbClr val="7B68EE"/>
      </a:accent3>
      <a:accent4>
        <a:srgbClr val="FF0000"/>
      </a:accent4>
      <a:accent5>
        <a:srgbClr val="FF4500"/>
      </a:accent5>
      <a:accent6>
        <a:srgbClr val="006400"/>
      </a:accent6>
      <a:hlink>
        <a:srgbClr val="000080"/>
      </a:hlink>
      <a:folHlink>
        <a:srgbClr val="C71585"/>
      </a:folHlink>
    </a:clrScheme>
    <a:fontScheme name="Imperial Sans font theme">
      <a:majorFont>
        <a:latin typeface="Imperial Sans Text Semibold"/>
        <a:ea typeface=""/>
        <a:cs typeface=""/>
      </a:majorFont>
      <a:minorFont>
        <a:latin typeface="Imperial Sans Tex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5000"/>
          </a:lnSpc>
          <a:defRPr sz="1600" dirty="0">
            <a:solidFill>
              <a:schemeClr val="tx1"/>
            </a:solidFill>
          </a:defRPr>
        </a:defPPr>
      </a:lstStyle>
    </a:txDef>
  </a:objectDefaults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Imperial_PowerPoint_16_9_simplified template" id="{AC92FECB-A8A0-E646-A419-0F8545DB9962}" vid="{4B3D5CAF-CC99-E94B-B0A1-08E0379C17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04BBFDCE9C65C45B257CD4C89E0CC4C" ma:contentTypeVersion="3" ma:contentTypeDescription="Create a new document." ma:contentTypeScope="" ma:versionID="024eea61a99e276f29bb4de829abc010">
  <xsd:schema xmlns:xsd="http://www.w3.org/2001/XMLSchema" xmlns:xs="http://www.w3.org/2001/XMLSchema" xmlns:p="http://schemas.microsoft.com/office/2006/metadata/properties" xmlns:ns2="58ccc919-a085-4c55-a8d0-fc57436857d8" targetNamespace="http://schemas.microsoft.com/office/2006/metadata/properties" ma:root="true" ma:fieldsID="6c52aa458bad14d68220b81cc9789cb2" ns2:_="">
    <xsd:import namespace="58ccc919-a085-4c55-a8d0-fc57436857d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8ccc919-a085-4c55-a8d0-fc57436857d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2739277-F501-4DD3-AC3E-E62D288923D9}">
  <ds:schemaRefs>
    <ds:schemaRef ds:uri="http://schemas.microsoft.com/office/infopath/2007/PartnerControls"/>
    <ds:schemaRef ds:uri="http://schemas.microsoft.com/office/2006/documentManagement/types"/>
    <ds:schemaRef ds:uri="http://www.w3.org/XML/1998/namespace"/>
    <ds:schemaRef ds:uri="http://schemas.microsoft.com/office/2006/metadata/properties"/>
    <ds:schemaRef ds:uri="http://purl.org/dc/dcmitype/"/>
    <ds:schemaRef ds:uri="http://purl.org/dc/elements/1.1/"/>
    <ds:schemaRef ds:uri="http://schemas.openxmlformats.org/package/2006/metadata/core-properties"/>
    <ds:schemaRef ds:uri="58ccc919-a085-4c55-a8d0-fc57436857d8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4B2545B1-F5A6-481C-9ECA-608EE6E0B99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D65134-D972-43CF-B603-94E0F8ABB0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8ccc919-a085-4c55-a8d0-fc57436857d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Imperial_Sans_PowerPoint_16_9_simplified template</Template>
  <TotalTime>1052</TotalTime>
  <Words>722</Words>
  <Application>Microsoft Office PowerPoint</Application>
  <PresentationFormat>Widescreen</PresentationFormat>
  <Paragraphs>136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Arial</vt:lpstr>
      <vt:lpstr>Calibri</vt:lpstr>
      <vt:lpstr>Courier New</vt:lpstr>
      <vt:lpstr>Google Sans Text</vt:lpstr>
      <vt:lpstr>Imperial Sans Text</vt:lpstr>
      <vt:lpstr>Imperial Sans Text Medium</vt:lpstr>
      <vt:lpstr>Imperial Sans Text Semibold</vt:lpstr>
      <vt:lpstr>Inter Medium</vt:lpstr>
      <vt:lpstr>ICL PPT Theme</vt:lpstr>
      <vt:lpstr>FYP Interim Presentation</vt:lpstr>
      <vt:lpstr>Agenda</vt:lpstr>
      <vt:lpstr>Problem</vt:lpstr>
      <vt:lpstr>Problem</vt:lpstr>
      <vt:lpstr>Current Literature </vt:lpstr>
      <vt:lpstr>Current Literature</vt:lpstr>
      <vt:lpstr>Our Approach</vt:lpstr>
      <vt:lpstr>Our Approach</vt:lpstr>
      <vt:lpstr>Our Approach</vt:lpstr>
      <vt:lpstr>Our Approach</vt:lpstr>
      <vt:lpstr>Proof of Concept</vt:lpstr>
      <vt:lpstr>Proof of Concept</vt:lpstr>
      <vt:lpstr>Issues</vt:lpstr>
      <vt:lpstr>Issues</vt:lpstr>
      <vt:lpstr>Next Steps</vt:lpstr>
      <vt:lpstr>Next Steps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Kallarackel, Paul</dc:creator>
  <cp:lastModifiedBy>Kallarackel, Paul</cp:lastModifiedBy>
  <cp:revision>5</cp:revision>
  <dcterms:created xsi:type="dcterms:W3CDTF">2025-11-16T21:29:59Z</dcterms:created>
  <dcterms:modified xsi:type="dcterms:W3CDTF">2026-03-07T12:45:32Z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0x010100A04BBFDCE9C65C45B257CD4C89E0CC4C</vt:lpwstr>
  </property>
  <property fmtid="{D5CDD505-2E9C-101B-9397-08002B2CF9AE}" pid="3" name="MediaServiceImageTags">
    <vt:lpwstr/>
  </property>
</Properties>
</file>