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9"/>
  </p:notesMasterIdLst>
  <p:sldIdLst>
    <p:sldId id="323" r:id="rId5"/>
    <p:sldId id="315" r:id="rId6"/>
    <p:sldId id="317" r:id="rId7"/>
    <p:sldId id="318" r:id="rId8"/>
    <p:sldId id="319" r:id="rId9"/>
    <p:sldId id="326" r:id="rId10"/>
    <p:sldId id="320" r:id="rId11"/>
    <p:sldId id="325" r:id="rId12"/>
    <p:sldId id="327" r:id="rId13"/>
    <p:sldId id="301" r:id="rId14"/>
    <p:sldId id="295" r:id="rId15"/>
    <p:sldId id="303" r:id="rId16"/>
    <p:sldId id="302" r:id="rId17"/>
    <p:sldId id="304" r:id="rId18"/>
    <p:sldId id="305" r:id="rId19"/>
    <p:sldId id="308" r:id="rId20"/>
    <p:sldId id="307" r:id="rId21"/>
    <p:sldId id="310" r:id="rId22"/>
    <p:sldId id="309" r:id="rId23"/>
    <p:sldId id="312" r:id="rId24"/>
    <p:sldId id="311" r:id="rId25"/>
    <p:sldId id="313" r:id="rId26"/>
    <p:sldId id="314" r:id="rId27"/>
    <p:sldId id="316" r:id="rId28"/>
  </p:sldIdLst>
  <p:sldSz cx="12192000" cy="6858000"/>
  <p:notesSz cx="6858000" cy="9144000"/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509B564D-AF0A-4F12-840A-341F1EF9B068}">
          <p14:sldIdLst>
            <p14:sldId id="323"/>
          </p14:sldIdLst>
        </p14:section>
        <p14:section name="Agenda" id="{4C605709-DED4-4BBA-B8BE-688FE0A0968D}">
          <p14:sldIdLst>
            <p14:sldId id="315"/>
          </p14:sldIdLst>
        </p14:section>
        <p14:section name="Background" id="{ACFE30F6-51C3-4DFA-B2DE-9BCED4792339}">
          <p14:sldIdLst>
            <p14:sldId id="317"/>
          </p14:sldIdLst>
        </p14:section>
        <p14:section name="Objectives" id="{2475FBC3-E0D1-405E-BE61-A33BD896B7FB}">
          <p14:sldIdLst>
            <p14:sldId id="318"/>
          </p14:sldIdLst>
        </p14:section>
        <p14:section name="Progress" id="{3503A0BC-9183-4D70-9362-504D0EE41474}">
          <p14:sldIdLst>
            <p14:sldId id="319"/>
          </p14:sldIdLst>
        </p14:section>
        <p14:section name="Plan" id="{6CD8984D-FFD5-44C4-B8CE-C9F3714B9E31}">
          <p14:sldIdLst>
            <p14:sldId id="326"/>
          </p14:sldIdLst>
        </p14:section>
        <p14:section name="Summary" id="{F761EB85-FFD4-4172-8EB5-34F6C09B4BC1}">
          <p14:sldIdLst>
            <p14:sldId id="320"/>
          </p14:sldIdLst>
        </p14:section>
        <p14:section name="Thanks" id="{8214DF5B-5FDE-4B92-8D1D-19233F0208D2}">
          <p14:sldIdLst>
            <p14:sldId id="325"/>
            <p14:sldId id="327"/>
          </p14:sldIdLst>
        </p14:section>
        <p14:section name="Example" id="{731D3FBA-7084-433F-94DA-93455F149F64}">
          <p14:sldIdLst>
            <p14:sldId id="301"/>
            <p14:sldId id="295"/>
            <p14:sldId id="303"/>
            <p14:sldId id="302"/>
            <p14:sldId id="304"/>
            <p14:sldId id="305"/>
            <p14:sldId id="308"/>
            <p14:sldId id="307"/>
            <p14:sldId id="310"/>
            <p14:sldId id="309"/>
            <p14:sldId id="312"/>
            <p14:sldId id="311"/>
            <p14:sldId id="313"/>
            <p14:sldId id="314"/>
            <p14:sldId id="31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59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4040" y="19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97264879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0668972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0DA90-2FF2-F36C-F9FF-CD7A192F0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bg1"/>
                </a:solidFill>
              </a:defRPr>
            </a:lvl2pPr>
            <a:lvl3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14C7637-5E21-BDDB-D675-718E58535D6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A57B56D4-851E-7242-EAB1-CD5B53E8B9A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25FF1F4-36F0-A184-7B99-8F5F4A49C89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7">
              <a:extLst>
                <a:ext uri="{FF2B5EF4-FFF2-40B4-BE49-F238E27FC236}">
                  <a16:creationId xmlns:a16="http://schemas.microsoft.com/office/drawing/2014/main" id="{F198715B-A90B-9B06-A055-401A84B092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8">
              <a:extLst>
                <a:ext uri="{FF2B5EF4-FFF2-40B4-BE49-F238E27FC236}">
                  <a16:creationId xmlns:a16="http://schemas.microsoft.com/office/drawing/2014/main" id="{9D2E04D5-A2EE-135D-A8C9-6E695F9BCF3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2" name="Freeform 9">
              <a:extLst>
                <a:ext uri="{FF2B5EF4-FFF2-40B4-BE49-F238E27FC236}">
                  <a16:creationId xmlns:a16="http://schemas.microsoft.com/office/drawing/2014/main" id="{8CE0DC1F-799B-3F7A-3A71-D20337A4746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E8EAEE22-055F-6869-D50D-D9C8C9082FD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EADAC67C-850F-96D3-0962-09E1B4CC3EC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683187A0-2E68-170D-55EF-0FA20E7A75B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62882915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98F30683-44FB-4995-47C3-43A7DE5523C7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77A24E86-91AA-6A9B-314A-752B77481A0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879B37A-F4A9-2DDA-3FC3-9FC52384AE6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3DABC58-132F-2F2F-EB5B-78B30A3D44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DFE51362-844C-B4F1-1A83-A287F312E94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E0F57AAB-C462-6A3A-9686-048341EA78B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8A0D371A-82CE-1829-AA32-FB790C7A60A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EA0DE082-4D8F-8158-56B4-AF85C4A0FA2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530CFB56-59E9-38CF-519A-B532B32547A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23" name="Title 1">
            <a:extLst>
              <a:ext uri="{FF2B5EF4-FFF2-40B4-BE49-F238E27FC236}">
                <a16:creationId xmlns:a16="http://schemas.microsoft.com/office/drawing/2014/main" id="{FB5434B5-DD4C-F988-6EBA-085A7DD494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1E34748E-CBEF-26E7-AB9F-696FA5D59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1DF2DBC8-2D33-BD84-A330-691C8B9797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bg1"/>
                </a:solidFill>
              </a:defRPr>
            </a:lvl2pPr>
            <a:lvl3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79999131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74F08BE-2F60-CB1D-7D31-8C827348C68A}"/>
              </a:ext>
            </a:extLst>
          </p:cNvPr>
          <p:cNvSpPr/>
          <p:nvPr userDrawn="1"/>
        </p:nvSpPr>
        <p:spPr>
          <a:xfrm>
            <a:off x="186267" y="6261100"/>
            <a:ext cx="1473200" cy="355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6BB52FF-CC93-F07E-EB4C-445727694E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9204DF6-0166-5507-9752-8B25AAD000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06B55D6-112C-79DC-9667-D9B208F769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A17C0B1-7E7F-6954-F927-8008A9C1F12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13CAA8-84AC-A955-F269-263A1DC7ECC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9DBF49-796C-F78B-2FFC-D8A32E98954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43A0913-7510-B0A7-5B26-0BB8E2CFBF6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D47581C-992D-DC81-130F-D1BEAC60BD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Project LRC001 – Paul Kallarackel - 02029025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FDAAD86-8576-DDB6-A6D4-0005897A31D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6E118E9-983A-6184-A8F0-A4019506A6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0A0B4ABF-5A3C-E460-5671-E4528A63358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F3D2AE9-3A70-06E0-8083-9FE34A3AA6E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dirty="0"/>
              <a:t>Project LRC001 – Paul Kallarackel - 02029025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 dirty="0"/>
              <a:t> / X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EB0428-073D-255E-0603-B7A7BDAE543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7752697-E8FD-0586-13E9-34F98CC4439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DD791D6-292A-5644-5EE9-51301A01B4E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95163B5-B861-BE6C-C9ED-294D52445C0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0C66614-41B9-C218-3CFE-CB9E1BF5F8C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731588F-786B-10A7-076E-365E9D20FD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A410BB3-2B89-7CC7-780C-44931EDCED3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22C44FD-9935-565B-51C4-07EDD751E4B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444669C-FC93-AF86-2973-9D9A24B58E2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F2338AC-FED3-E963-2349-B4EB458244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F1E1644-B084-C0E8-390C-57D0FC246F4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2CA7376-EFA5-4209-2D04-0AD5DC20AE7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36B5CE4-BFEC-7FBE-6662-E2E9B988074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7217864-1AFD-F2DE-EF53-8B65EF1A78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911236E-071F-DD2A-30DB-A2C60279A69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270FBB6-7E01-F747-7030-9F4677A5E20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EF870EC-4959-8866-140F-E80D89E7EE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917FF23-1146-9B25-6617-F100014C23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7D34D0E-4ACE-E4A9-E783-244C936867C2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CBF335E-9AA0-9564-84EE-984B94AEB64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0510A3F-233D-9380-ABAA-22F043FD57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AE11B2C-78CA-610C-6E36-01DD97CED03D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8EBB53A4-31B2-837A-2CD9-C6FE58E3BEDA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05AD4B1-DD50-BC34-C52A-5DC8F0DD9A0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0A92CBF-CFCF-C6E6-4DD9-C6DEE72D09B4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940DFF5A-2AC4-2FF4-1C69-99D1E2DB751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7F134F8-B49C-1B56-492C-DC1AD9D3D9D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B53072D-8985-0325-CAC1-74420708D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1AA30737-1F37-A87B-AA9B-CA743D16A661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3C07737C-424A-644B-3C26-525F7BA5236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BEB71933-433D-E18A-0EEE-985736944A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981B8B8-CA45-1A66-F977-8C1E16598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6E75D07-E67B-A9A3-C02D-7B968ED46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217419C-40FE-F91F-2953-B52FA51E9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49BBFB2-19E9-88C4-65CE-D6E6256E3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CC6683C-5A91-794D-D5F3-FF99653CC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C1A50E-1824-DC74-17BB-731EC40EF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6419645-DD65-FB3C-2BCA-109AF57D6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514B54E-4B60-6946-131E-48548799E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EF8CF5-3AAE-8D1E-BBB4-C8FABBF72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982528-ED0E-B4CA-A9B6-4B20FA97C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17B92FD-2D19-A228-9CF5-A8F8BB33A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6D6CE8-E81B-E6F1-72B3-0337EEBC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9E03E9-2E15-D686-0F71-06E46D832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2B9059-3731-6151-FF84-5553FCD5B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B50735-A545-BB9F-EDE5-5E90F2D76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3696074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FA79ED-CACF-8795-9805-15F33F438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8FAFD3-CAE5-5291-59F1-1C42123E0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5E3A83-6C61-487B-2AC2-E07D8E671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4925788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21AD4-68E5-D832-D55C-9ACFCD15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1EA1B-04BA-0493-81EB-3E7823E1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2947-0466-77E3-9884-7FFF54F0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6803618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1609BCD-EF9A-DF89-AAD2-167090C57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B66839-73D5-9FB3-DB9B-3542FD569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C9A17A-3138-FDFB-0508-05AE79738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E00BB4-E181-43DD-F708-410A436C1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8FFC52-1BBF-F67C-0106-4487B17A91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BE004C-5906-6391-631E-DFC533EAC1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3825B5A-868F-8751-7807-B6DE7315D524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A38C81-D67D-BFD5-C6D9-22BF9FFD97DC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CF8DE5-0134-9A2C-FDA5-3ACF22FBA6D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3B3D2DA-AAF5-FB54-A756-8860F4069255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8D9C4F-68B7-7964-0BEE-8CF3646B7C61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90F332-0F5B-5229-2B85-9F064FDF26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3AC3B21-8395-C1F0-CA0C-B005D390856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B50194-FD5A-F6E5-0FFE-E7C91B06D904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AD7905-FD61-CAFD-C77E-DDA12871413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48C676F-6003-49FC-40BB-3B27C3087008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B07CE3-61A4-9879-9BCC-15DA62A27566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40DD7-CF29-EA2E-1348-92A31D1FB1F8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2815C1D-BE5A-79AF-8596-DA89BD929A70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F3C306-BC37-6090-2CAD-6C5D6E4566B4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378BA0-5779-12DB-B955-8E42297D290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75C8531-C05E-63EF-FB48-2E82EC6A6685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10A0DD8F-27EB-AEAF-3B99-94593C17503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6B5A68F-2B85-5492-2A7F-9BEBEA9A079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BB48791-A869-86F5-0819-A87269CE355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1373F9F1-22A7-7ED0-5FC4-847D9539D622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D7E3FBA5-A0D9-54A0-B9D0-7DB817E3D946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1701D3FA-7A33-DEFC-9B00-FF3AD72A3E2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E6E9283C-C232-E087-63BC-08285178996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50883F-B378-2E63-3923-B8762B443B8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AC244142-9CD8-E7B9-9723-BF59350908E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197282-FB56-29E1-A750-42482B59FF6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C0E831B-4DE5-5F84-F4E5-CEB35897BF8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5544FC-DB91-F992-78C0-8FD5ED1E341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E49CF4-E125-D917-FC4B-587DCEBC24A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92E05C4-B444-65EC-7B57-AC5311423ED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BDE6A64-5594-2FB7-8CDF-E95335634D8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949F88-61A6-D8E7-29E1-E6F78E8D361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CCEEDF6-82E0-0E86-B1A5-294545A8BB7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48FD806-EE9E-D87A-BE6F-B3D8B9C67F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4E2D15-23F5-149A-30AE-5397C97F404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44F386A-DBA7-61B6-554F-83AF26108F2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590EE48-AD8F-52CD-AC89-A2E3BCCF06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E8E05A-B87E-3BB3-D156-5E144FA6F9F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BE0AA13-96B4-7519-3AB2-0045C4FF403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22EEA79-02E5-A5A8-BA2D-ECEA63B195D2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B2E939-97C7-7790-09BF-AC83B28220D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D809A66-E9E9-DD83-DBE6-2BB6B6692127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8E999-D5C7-9A58-59B8-15EA189A252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EE5371-FE3A-7739-D4CF-D746BFC0431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28C694-9E27-861B-E7C2-B5B7EA87F41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91598B-C40D-A239-27EF-A2D2C775BE8E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694141-8160-F555-B4F5-A1D4C940960B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886CC0-380A-9C20-172D-8A626A09DD8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45132F-41AC-8782-EEE3-0FEFECDA8E1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405E93D-99E5-31EA-7551-A812B9620E43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5DA575-9EAC-BDC1-54BD-3FC3A3D2DEC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CAA9D9-57A8-D2AD-175C-0089C8DEAEE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148999050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658548261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211696665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8F1E4B3C-5470-00F2-B8CB-BB4906CF439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7D7A316D-6FA6-8EBE-A7B4-43071E70A86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11C06CEA-028D-9197-2DEF-67878595AE6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DEA93E8D-A827-0EF8-FC25-4EDF7B194E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DF359F29-A6DD-FD4C-F807-701DEA41EDF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2468BF6B-AEBB-4CAA-244D-9EBE80B9A1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CC60AC05-547F-FA65-604E-4ED4912EA9E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7632E58E-1400-1E6E-BB60-7A9B794F41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4D65D159-581D-F29B-BBD4-C1C5BACCEEF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Image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3A87AD45-2D2F-D96C-947C-BAE35BFEBEE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31EDC35F-4F2D-B2A7-1ECD-0CF19D1AD28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97F4776F-4E5E-13DF-F11A-A6808FFFC98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BA993AE1-6A24-5C17-7FE2-A16589D9C4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DA87F8EF-CDAD-15A2-A361-88921E1CAF7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E90186DB-2300-A8AA-8FAD-2C609649A61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31922286-E237-1114-3A54-E1731611D66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1B4DA78C-0EF6-B05D-F2D2-EFEDA343E39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A00F92FE-6EB2-0D0E-BFC9-559AD1E7A4E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216125896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761819100"/>
      </p:ext>
    </p:extLst>
  </p:cSld>
  <p:clrMapOvr>
    <a:masterClrMapping/>
  </p:clrMapOvr>
  <p:transition>
    <p:fade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2408184500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595170055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878288"/>
            <a:ext cx="5606484" cy="652688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49CC1682-CCAA-5EE1-585E-F7C4434F1C5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770403FB-3386-A0FE-3E9D-A2925EF0E8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C2CDC1DE-179E-04D4-B493-BF069DE85D6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B9A68412-C85B-6332-8B98-2635795BBA0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9ECB875-34C4-65FF-6CDA-1356F6BC767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D3B5B848-7A8D-931B-DFC2-C5B37B8DB6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361AABDF-9542-DBC6-6388-ABE2035BE7B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57C10C3-A39D-D1F6-3C50-91EC9A5E76E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E4DD9B4A-92B0-0B9A-755B-A13B032A85A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A21C963-6CF2-9760-7F75-DB20AA4126C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B78243-6DA3-02B2-DAFC-CAA57539215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ED9601-8448-53B3-4043-F3515F9E1A5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1818251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9762458-4588-D1A5-E839-5A35F5F2717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690542-602A-048E-DD16-4607078EDA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2A65E2-B29C-ADFA-17CB-B26C0AAEE84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015067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0350EC4-9AC3-6724-CAD5-75107F3DE4F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410BC1-F959-80A7-1B21-2A4BCB0C2C6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9CF22-0534-06A6-D932-24AD08A9ECD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909866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FB3755-3ABA-419D-0EDF-B2F3AF616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C75C78-C1E5-FE97-F613-06DF5094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D93C2-6A05-A994-99DB-4F7ABF69D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64464979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4274CA-C7BA-C222-BD08-1DA6E6537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BBBCA8-48D2-110D-BC25-4625DC2FB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89D36F-F361-EC55-524E-00B1EC5D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57168227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118FC4-080B-F50F-F3A9-6C8EFDFE7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2F555-CB50-A198-502D-DE71CF732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DB31DD-3F3F-6EDB-42C1-EB853564C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8811291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chemeClr val="accent1"/>
                </a:solidFill>
              </a:defRPr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chemeClr val="accent1"/>
                </a:solidFill>
              </a:defRPr>
            </a:lvl1pPr>
          </a:lstStyle>
          <a:p>
            <a:r>
              <a:rPr lang="en-GB" dirty="0"/>
              <a:t>Project LRC001 – Paul Kallarackel - 02029025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chemeClr val="accent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r>
              <a:rPr lang="en-GB" dirty="0"/>
              <a:t> / X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accent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79" r:id="rId2"/>
    <p:sldLayoutId id="2147483680" r:id="rId3"/>
    <p:sldLayoutId id="2147483649" r:id="rId4"/>
    <p:sldLayoutId id="2147483657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667" r:id="rId26"/>
    <p:sldLayoutId id="2147483693" r:id="rId27"/>
    <p:sldLayoutId id="2147483694" r:id="rId28"/>
    <p:sldLayoutId id="2147483666" r:id="rId29"/>
    <p:sldLayoutId id="2147483661" r:id="rId30"/>
    <p:sldLayoutId id="2147483695" r:id="rId31"/>
    <p:sldLayoutId id="2147483696" r:id="rId32"/>
    <p:sldLayoutId id="2147483669" r:id="rId33"/>
    <p:sldLayoutId id="2147483697" r:id="rId34"/>
    <p:sldLayoutId id="2147483698" r:id="rId35"/>
    <p:sldLayoutId id="2147483678" r:id="rId36"/>
    <p:sldLayoutId id="2147483699" r:id="rId37"/>
    <p:sldLayoutId id="2147483700" r:id="rId38"/>
    <p:sldLayoutId id="2147483662" r:id="rId39"/>
    <p:sldLayoutId id="2147483701" r:id="rId40"/>
    <p:sldLayoutId id="2147483702" r:id="rId41"/>
    <p:sldLayoutId id="2147483663" r:id="rId42"/>
    <p:sldLayoutId id="2147483703" r:id="rId43"/>
    <p:sldLayoutId id="2147483704" r:id="rId44"/>
    <p:sldLayoutId id="2147483664" r:id="rId45"/>
    <p:sldLayoutId id="2147483705" r:id="rId46"/>
    <p:sldLayoutId id="2147483706" r:id="rId47"/>
    <p:sldLayoutId id="2147483665" r:id="rId48"/>
    <p:sldLayoutId id="2147483671" r:id="rId49"/>
    <p:sldLayoutId id="2147483707" r:id="rId50"/>
    <p:sldLayoutId id="2147483708" r:id="rId51"/>
    <p:sldLayoutId id="2147483670" r:id="rId52"/>
    <p:sldLayoutId id="2147483672" r:id="rId53"/>
    <p:sldLayoutId id="2147483674" r:id="rId54"/>
    <p:sldLayoutId id="2147483709" r:id="rId55"/>
    <p:sldLayoutId id="2147483710" r:id="rId56"/>
    <p:sldLayoutId id="2147483673" r:id="rId57"/>
    <p:sldLayoutId id="2147483654" r:id="rId58"/>
    <p:sldLayoutId id="2147483711" r:id="rId59"/>
    <p:sldLayoutId id="2147483712" r:id="rId60"/>
    <p:sldLayoutId id="2147483655" r:id="rId61"/>
    <p:sldLayoutId id="2147483713" r:id="rId62"/>
    <p:sldLayoutId id="2147483714" r:id="rId6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F6478B9-7A94-1C7B-8199-67CDB955116B}"/>
              </a:ext>
            </a:extLst>
          </p:cNvPr>
          <p:cNvSpPr txBox="1">
            <a:spLocks/>
          </p:cNvSpPr>
          <p:nvPr/>
        </p:nvSpPr>
        <p:spPr>
          <a:xfrm>
            <a:off x="330271" y="918580"/>
            <a:ext cx="9144000" cy="184794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b="1" dirty="0"/>
              <a:t>FYP Interim Presentation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0A393E0-D3FA-5384-CAC2-7796039AC9A0}"/>
              </a:ext>
            </a:extLst>
          </p:cNvPr>
          <p:cNvSpPr txBox="1">
            <a:spLocks/>
          </p:cNvSpPr>
          <p:nvPr/>
        </p:nvSpPr>
        <p:spPr>
          <a:xfrm>
            <a:off x="354435" y="2906299"/>
            <a:ext cx="11111656" cy="3793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765" rtl="0" eaLnBrk="1" latinLnBrk="0" hangingPunct="1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 kern="1200">
                <a:solidFill>
                  <a:schemeClr val="accent1"/>
                </a:solidFill>
                <a:latin typeface="+mn-lt"/>
                <a:ea typeface="Inter Medium" panose="02000503000000020004" pitchFamily="2" charset="0"/>
                <a:cs typeface="+mn-cs"/>
              </a:defRPr>
            </a:lvl1pPr>
            <a:lvl2pPr marL="342882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685765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47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30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12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295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177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060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i="1" dirty="0"/>
              <a:t>Leveraging Low-Precision Hardware for High-Fidelity CFD: Integrating the Ozaki Scheme into Nektar++</a:t>
            </a:r>
            <a:endParaRPr lang="en-US" sz="2200" i="1" dirty="0">
              <a:latin typeface="Imperial Sans Text Medium"/>
            </a:endParaRPr>
          </a:p>
          <a:p>
            <a:pPr>
              <a:spcBef>
                <a:spcPts val="1800"/>
              </a:spcBef>
            </a:pPr>
            <a:r>
              <a:rPr lang="en-GB" sz="2200" dirty="0">
                <a:latin typeface="Imperial Sans Text Medium"/>
              </a:rPr>
              <a:t>Paul Kallarackel</a:t>
            </a:r>
          </a:p>
          <a:p>
            <a:r>
              <a:rPr lang="en-GB" sz="2200" dirty="0">
                <a:latin typeface="Imperial Sans Text Medium"/>
              </a:rPr>
              <a:t>02029025</a:t>
            </a:r>
          </a:p>
          <a:p>
            <a:r>
              <a:rPr lang="en-GB" sz="2200" dirty="0">
                <a:latin typeface="Imperial Sans Text Medium"/>
              </a:rPr>
              <a:t>11/03/2026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A02ED51-2B8F-8567-B293-D7A5E0BC78BD}"/>
              </a:ext>
            </a:extLst>
          </p:cNvPr>
          <p:cNvSpPr txBox="1">
            <a:spLocks/>
          </p:cNvSpPr>
          <p:nvPr/>
        </p:nvSpPr>
        <p:spPr>
          <a:xfrm>
            <a:off x="-7987330" y="332899"/>
            <a:ext cx="5094219" cy="906621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Outline</a:t>
            </a:r>
            <a:endParaRPr lang="en-GB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F70D2C-A85F-8E33-E9C2-6AA707AEC854}"/>
              </a:ext>
            </a:extLst>
          </p:cNvPr>
          <p:cNvSpPr txBox="1"/>
          <p:nvPr/>
        </p:nvSpPr>
        <p:spPr>
          <a:xfrm>
            <a:off x="-6402146" y="3019580"/>
            <a:ext cx="102813" cy="5440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endParaRPr lang="en-GB" sz="1600" dirty="0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F2DFDF-9BE5-17A6-2596-DC2EF1F2E274}"/>
              </a:ext>
            </a:extLst>
          </p:cNvPr>
          <p:cNvGrpSpPr/>
          <p:nvPr/>
        </p:nvGrpSpPr>
        <p:grpSpPr>
          <a:xfrm>
            <a:off x="-8305824" y="1606788"/>
            <a:ext cx="5862320" cy="3793251"/>
            <a:chOff x="0" y="1606789"/>
            <a:chExt cx="3470012" cy="2351384"/>
          </a:xfrm>
        </p:grpSpPr>
        <p:sp>
          <p:nvSpPr>
            <p:cNvPr id="10" name="Rectangle: Single Corner Rounded 9">
              <a:extLst>
                <a:ext uri="{FF2B5EF4-FFF2-40B4-BE49-F238E27FC236}">
                  <a16:creationId xmlns:a16="http://schemas.microsoft.com/office/drawing/2014/main" id="{94D0814F-5F8C-3A24-544B-ADFC069FC137}"/>
                </a:ext>
              </a:extLst>
            </p:cNvPr>
            <p:cNvSpPr/>
            <p:nvPr/>
          </p:nvSpPr>
          <p:spPr>
            <a:xfrm>
              <a:off x="1" y="1606789"/>
              <a:ext cx="3470011" cy="47093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numCol="1" spcCol="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60F5344-6244-8170-BCD1-7103A5298BDF}"/>
                </a:ext>
              </a:extLst>
            </p:cNvPr>
            <p:cNvSpPr/>
            <p:nvPr/>
          </p:nvSpPr>
          <p:spPr>
            <a:xfrm>
              <a:off x="1" y="2077720"/>
              <a:ext cx="3470011" cy="4709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C9C912E-0FE2-A393-8FEB-985F2428F5B0}"/>
                </a:ext>
              </a:extLst>
            </p:cNvPr>
            <p:cNvSpPr/>
            <p:nvPr/>
          </p:nvSpPr>
          <p:spPr>
            <a:xfrm>
              <a:off x="1" y="2548650"/>
              <a:ext cx="3470011" cy="47093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C67571F-6CA6-366D-6280-069FA22CFDF0}"/>
                </a:ext>
              </a:extLst>
            </p:cNvPr>
            <p:cNvSpPr/>
            <p:nvPr/>
          </p:nvSpPr>
          <p:spPr>
            <a:xfrm>
              <a:off x="1" y="3019580"/>
              <a:ext cx="3470011" cy="4709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14" name="Rectangle: Single Corner Rounded 13">
              <a:extLst>
                <a:ext uri="{FF2B5EF4-FFF2-40B4-BE49-F238E27FC236}">
                  <a16:creationId xmlns:a16="http://schemas.microsoft.com/office/drawing/2014/main" id="{B0712E83-60D3-AFDD-AE84-30E8578A42E7}"/>
                </a:ext>
              </a:extLst>
            </p:cNvPr>
            <p:cNvSpPr/>
            <p:nvPr/>
          </p:nvSpPr>
          <p:spPr>
            <a:xfrm flipV="1">
              <a:off x="0" y="3490510"/>
              <a:ext cx="3470011" cy="467663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numCol="1" spcCol="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D98AA387-1EC4-E623-C2D0-1EA86AB85D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17253720"/>
              </p:ext>
            </p:extLst>
          </p:nvPr>
        </p:nvGraphicFramePr>
        <p:xfrm>
          <a:off x="-8305824" y="1606788"/>
          <a:ext cx="5537200" cy="37932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2312058624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529335587"/>
                    </a:ext>
                  </a:extLst>
                </a:gridCol>
              </a:tblGrid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Background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813600567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Project Aims &amp; Objectives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377395039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Progress to Date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3619643445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Plan for Remainder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813601940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Summary &amp; Conclusion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337709630"/>
                  </a:ext>
                </a:extLst>
              </a:tr>
            </a:tbl>
          </a:graphicData>
        </a:graphic>
      </p:graphicFrame>
      <p:sp>
        <p:nvSpPr>
          <p:cNvPr id="31" name="FooterBanner">
            <a:extLst>
              <a:ext uri="{FF2B5EF4-FFF2-40B4-BE49-F238E27FC236}">
                <a16:creationId xmlns:a16="http://schemas.microsoft.com/office/drawing/2014/main" id="{7C8C5433-F90C-4C8D-9178-D4DB6ABDD889}"/>
              </a:ext>
            </a:extLst>
          </p:cNvPr>
          <p:cNvSpPr/>
          <p:nvPr/>
        </p:nvSpPr>
        <p:spPr>
          <a:xfrm>
            <a:off x="0" y="7156023"/>
            <a:ext cx="12240000" cy="90549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32" name="Group 4">
            <a:extLst>
              <a:ext uri="{FF2B5EF4-FFF2-40B4-BE49-F238E27FC236}">
                <a16:creationId xmlns:a16="http://schemas.microsoft.com/office/drawing/2014/main" id="{C30352EB-8B49-14D2-930C-91216E5576B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27025" y="7401620"/>
            <a:ext cx="676041" cy="74559"/>
            <a:chOff x="0" y="3473"/>
            <a:chExt cx="15360" cy="1694"/>
          </a:xfrm>
          <a:solidFill>
            <a:schemeClr val="accent1"/>
          </a:solidFill>
        </p:grpSpPr>
        <p:sp>
          <p:nvSpPr>
            <p:cNvPr id="33" name="Freeform 5">
              <a:extLst>
                <a:ext uri="{FF2B5EF4-FFF2-40B4-BE49-F238E27FC236}">
                  <a16:creationId xmlns:a16="http://schemas.microsoft.com/office/drawing/2014/main" id="{CF51F40E-42F6-1A43-2174-AF365303289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4" name="Freeform 6">
              <a:extLst>
                <a:ext uri="{FF2B5EF4-FFF2-40B4-BE49-F238E27FC236}">
                  <a16:creationId xmlns:a16="http://schemas.microsoft.com/office/drawing/2014/main" id="{70188703-C602-88CB-3352-8BA8CEB1D6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5" name="Freeform 7">
              <a:extLst>
                <a:ext uri="{FF2B5EF4-FFF2-40B4-BE49-F238E27FC236}">
                  <a16:creationId xmlns:a16="http://schemas.microsoft.com/office/drawing/2014/main" id="{1233D259-3CFA-50FE-CEBD-42A855E0F85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6" name="Freeform 8">
              <a:extLst>
                <a:ext uri="{FF2B5EF4-FFF2-40B4-BE49-F238E27FC236}">
                  <a16:creationId xmlns:a16="http://schemas.microsoft.com/office/drawing/2014/main" id="{FEFC825B-06AD-8881-68DA-B3B514AED37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37" name="Freeform 9">
              <a:extLst>
                <a:ext uri="{FF2B5EF4-FFF2-40B4-BE49-F238E27FC236}">
                  <a16:creationId xmlns:a16="http://schemas.microsoft.com/office/drawing/2014/main" id="{7EEBE2D8-801E-EFA0-63FF-ACD51969594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01A3C752-9BF9-8D96-E5AB-03DDA9CC608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9" name="Freeform 11">
              <a:extLst>
                <a:ext uri="{FF2B5EF4-FFF2-40B4-BE49-F238E27FC236}">
                  <a16:creationId xmlns:a16="http://schemas.microsoft.com/office/drawing/2014/main" id="{E890B3D4-3849-2563-F11B-3302EE8B158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B72F720E-D2DC-195E-86CA-BF244921846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41" name="Date Placeholder 3">
            <a:extLst>
              <a:ext uri="{FF2B5EF4-FFF2-40B4-BE49-F238E27FC236}">
                <a16:creationId xmlns:a16="http://schemas.microsoft.com/office/drawing/2014/main" id="{3A15BC3C-AFDA-EB64-341F-3037F1011D06}"/>
              </a:ext>
            </a:extLst>
          </p:cNvPr>
          <p:cNvSpPr txBox="1">
            <a:spLocks/>
          </p:cNvSpPr>
          <p:nvPr/>
        </p:nvSpPr>
        <p:spPr>
          <a:xfrm>
            <a:off x="10665349" y="7370265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defPPr>
              <a:defRPr lang="en-US"/>
            </a:defPPr>
            <a:lvl1pPr marL="0" algn="r" defTabSz="914353" rtl="0" eaLnBrk="1" latinLnBrk="0" hangingPunct="1">
              <a:defRPr sz="85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177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0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6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0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36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42" name="Footer Placeholder 4">
            <a:extLst>
              <a:ext uri="{FF2B5EF4-FFF2-40B4-BE49-F238E27FC236}">
                <a16:creationId xmlns:a16="http://schemas.microsoft.com/office/drawing/2014/main" id="{E0E0D4FE-15B3-2F04-0B3B-030EDE67514D}"/>
              </a:ext>
            </a:extLst>
          </p:cNvPr>
          <p:cNvSpPr txBox="1">
            <a:spLocks/>
          </p:cNvSpPr>
          <p:nvPr/>
        </p:nvSpPr>
        <p:spPr>
          <a:xfrm>
            <a:off x="1989261" y="7370265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defPPr>
              <a:defRPr lang="en-US"/>
            </a:defPPr>
            <a:lvl1pPr marL="0" algn="l" defTabSz="914353" rtl="0" eaLnBrk="1" latinLnBrk="0" hangingPunct="1">
              <a:defRPr sz="85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177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0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6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0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36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9A4D20CB-6309-9E9F-C203-A49DC5449225}"/>
              </a:ext>
            </a:extLst>
          </p:cNvPr>
          <p:cNvSpPr txBox="1">
            <a:spLocks/>
          </p:cNvSpPr>
          <p:nvPr/>
        </p:nvSpPr>
        <p:spPr>
          <a:xfrm>
            <a:off x="5960755" y="7370265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defPPr>
              <a:defRPr lang="en-US"/>
            </a:defPPr>
            <a:lvl1pPr marL="0" algn="ctr" defTabSz="914353" rtl="0" eaLnBrk="1" latinLnBrk="0" hangingPunct="1">
              <a:defRPr sz="85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177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0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6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0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36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BA53E11-492D-48B3-9F9B-09541CA2A39A}" type="slidenum">
              <a:rPr lang="en-GB" smtClean="0"/>
              <a:pPr/>
              <a:t>1</a:t>
            </a:fld>
            <a:r>
              <a:rPr lang="en-GB"/>
              <a:t> / X </a:t>
            </a:r>
            <a:endParaRPr lang="en-GB" dirty="0"/>
          </a:p>
        </p:txBody>
      </p:sp>
      <p:pic>
        <p:nvPicPr>
          <p:cNvPr id="44" name="ProgressGear" descr="Single gear with solid fill">
            <a:extLst>
              <a:ext uri="{FF2B5EF4-FFF2-40B4-BE49-F238E27FC236}">
                <a16:creationId xmlns:a16="http://schemas.microsoft.com/office/drawing/2014/main" id="{5544FDF9-5FE1-2823-EAF5-CDFCD5C7F8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642" y="6945146"/>
            <a:ext cx="420606" cy="42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0911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ooterBanner">
            <a:extLst>
              <a:ext uri="{FF2B5EF4-FFF2-40B4-BE49-F238E27FC236}">
                <a16:creationId xmlns:a16="http://schemas.microsoft.com/office/drawing/2014/main" id="{996E055F-2491-558F-9DBD-B0D99857E358}"/>
              </a:ext>
            </a:extLst>
          </p:cNvPr>
          <p:cNvSpPr/>
          <p:nvPr/>
        </p:nvSpPr>
        <p:spPr>
          <a:xfrm>
            <a:off x="0" y="6405251"/>
            <a:ext cx="12240000" cy="90549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46" name="Group 4">
            <a:extLst>
              <a:ext uri="{FF2B5EF4-FFF2-40B4-BE49-F238E27FC236}">
                <a16:creationId xmlns:a16="http://schemas.microsoft.com/office/drawing/2014/main" id="{3EEF8556-D48A-193E-CBD3-C5737E84033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27025" y="6650848"/>
            <a:ext cx="676041" cy="74559"/>
            <a:chOff x="0" y="3473"/>
            <a:chExt cx="15360" cy="1694"/>
          </a:xfrm>
          <a:solidFill>
            <a:schemeClr val="accent1"/>
          </a:solidFill>
        </p:grpSpPr>
        <p:sp>
          <p:nvSpPr>
            <p:cNvPr id="47" name="Freeform 5">
              <a:extLst>
                <a:ext uri="{FF2B5EF4-FFF2-40B4-BE49-F238E27FC236}">
                  <a16:creationId xmlns:a16="http://schemas.microsoft.com/office/drawing/2014/main" id="{6DFC1BB4-B450-515C-0D4D-EBF96069D12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8" name="Freeform 6">
              <a:extLst>
                <a:ext uri="{FF2B5EF4-FFF2-40B4-BE49-F238E27FC236}">
                  <a16:creationId xmlns:a16="http://schemas.microsoft.com/office/drawing/2014/main" id="{6BDB12C8-85B3-C6AE-A1E2-60CA0D03B0A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9" name="Freeform 7">
              <a:extLst>
                <a:ext uri="{FF2B5EF4-FFF2-40B4-BE49-F238E27FC236}">
                  <a16:creationId xmlns:a16="http://schemas.microsoft.com/office/drawing/2014/main" id="{49DAAF78-D516-8185-6BCE-A6EE7AE09BB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0" name="Freeform 8">
              <a:extLst>
                <a:ext uri="{FF2B5EF4-FFF2-40B4-BE49-F238E27FC236}">
                  <a16:creationId xmlns:a16="http://schemas.microsoft.com/office/drawing/2014/main" id="{5FE50C7A-C5AA-34C1-783E-C903CE77488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51" name="Freeform 9">
              <a:extLst>
                <a:ext uri="{FF2B5EF4-FFF2-40B4-BE49-F238E27FC236}">
                  <a16:creationId xmlns:a16="http://schemas.microsoft.com/office/drawing/2014/main" id="{EB3E038D-AF7D-697E-A66C-0626FE93927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2" name="Freeform 10">
              <a:extLst>
                <a:ext uri="{FF2B5EF4-FFF2-40B4-BE49-F238E27FC236}">
                  <a16:creationId xmlns:a16="http://schemas.microsoft.com/office/drawing/2014/main" id="{58CA68B3-67B0-85AE-0C37-A0421BFECE8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3" name="Freeform 11">
              <a:extLst>
                <a:ext uri="{FF2B5EF4-FFF2-40B4-BE49-F238E27FC236}">
                  <a16:creationId xmlns:a16="http://schemas.microsoft.com/office/drawing/2014/main" id="{81FD1A2F-4BAC-244F-0E49-BB281C1FE93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54" name="Freeform 12">
              <a:extLst>
                <a:ext uri="{FF2B5EF4-FFF2-40B4-BE49-F238E27FC236}">
                  <a16:creationId xmlns:a16="http://schemas.microsoft.com/office/drawing/2014/main" id="{E4E3B905-808F-E9DE-24DA-FA3FD23E5A2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848C7-AE88-7A1C-CEE4-0C884BD75FA8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10665349" y="6619493"/>
            <a:ext cx="1233647" cy="137270"/>
          </a:xfrm>
        </p:spPr>
        <p:txBody>
          <a:bodyPr/>
          <a:lstStyle/>
          <a:p>
            <a:r>
              <a:rPr lang="en-US" dirty="0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C85C3-43A0-A973-4FE1-CB49A89998D8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1989261" y="6619493"/>
            <a:ext cx="3423452" cy="137272"/>
          </a:xfrm>
        </p:spPr>
        <p:txBody>
          <a:bodyPr/>
          <a:lstStyle/>
          <a:p>
            <a:r>
              <a:rPr lang="en-GB" dirty="0"/>
              <a:t>Project LRC001 – Paul Kallarackel - 02029025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7C08A-2D18-B4E2-06F7-E29587BE07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5960755" y="6619493"/>
            <a:ext cx="318491" cy="137272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r>
              <a:rPr lang="en-GB" dirty="0"/>
              <a:t> / X 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7863353-7429-017E-ED88-17CEE0AA3E76}"/>
              </a:ext>
            </a:extLst>
          </p:cNvPr>
          <p:cNvSpPr/>
          <p:nvPr/>
        </p:nvSpPr>
        <p:spPr>
          <a:xfrm>
            <a:off x="-5572" y="-626533"/>
            <a:ext cx="4680000" cy="540000"/>
          </a:xfrm>
          <a:prstGeom prst="roundRect">
            <a:avLst/>
          </a:prstGeom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5AFEEB8-FB66-4B7A-40EB-5B7CCBA6CCA7}"/>
              </a:ext>
            </a:extLst>
          </p:cNvPr>
          <p:cNvSpPr/>
          <p:nvPr/>
        </p:nvSpPr>
        <p:spPr>
          <a:xfrm>
            <a:off x="4672356" y="-626535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941464C-7249-0A09-2704-80AEBE4C8C9B}"/>
              </a:ext>
            </a:extLst>
          </p:cNvPr>
          <p:cNvSpPr/>
          <p:nvPr/>
        </p:nvSpPr>
        <p:spPr>
          <a:xfrm>
            <a:off x="6548904" y="-626534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84B2402-EC28-E834-E5BB-5E4281B410E2}"/>
              </a:ext>
            </a:extLst>
          </p:cNvPr>
          <p:cNvSpPr/>
          <p:nvPr/>
        </p:nvSpPr>
        <p:spPr>
          <a:xfrm>
            <a:off x="8425452" y="-626534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A464FDF-3AE6-4DF4-F9F9-CAA102DD54A1}"/>
              </a:ext>
            </a:extLst>
          </p:cNvPr>
          <p:cNvSpPr/>
          <p:nvPr/>
        </p:nvSpPr>
        <p:spPr>
          <a:xfrm>
            <a:off x="10302000" y="-626536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3843967C-89AA-6B87-E0AC-2BA1143D4911}"/>
              </a:ext>
            </a:extLst>
          </p:cNvPr>
          <p:cNvSpPr txBox="1">
            <a:spLocks/>
          </p:cNvSpPr>
          <p:nvPr/>
        </p:nvSpPr>
        <p:spPr>
          <a:xfrm>
            <a:off x="318494" y="332899"/>
            <a:ext cx="5094219" cy="906621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Outline</a:t>
            </a:r>
            <a:endParaRPr lang="en-GB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F17AC3-867D-3EC6-7628-E1F0C40F6A1F}"/>
              </a:ext>
            </a:extLst>
          </p:cNvPr>
          <p:cNvSpPr txBox="1"/>
          <p:nvPr/>
        </p:nvSpPr>
        <p:spPr>
          <a:xfrm>
            <a:off x="1903678" y="3019580"/>
            <a:ext cx="102813" cy="5440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endParaRPr lang="en-GB" sz="1600" dirty="0">
              <a:solidFill>
                <a:schemeClr val="tx1"/>
              </a:solidFill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3568ADE-4833-5E10-5EC1-688F39549A64}"/>
              </a:ext>
            </a:extLst>
          </p:cNvPr>
          <p:cNvGrpSpPr/>
          <p:nvPr/>
        </p:nvGrpSpPr>
        <p:grpSpPr>
          <a:xfrm>
            <a:off x="0" y="1606788"/>
            <a:ext cx="5862320" cy="3793251"/>
            <a:chOff x="0" y="1606789"/>
            <a:chExt cx="3470012" cy="2351384"/>
          </a:xfrm>
        </p:grpSpPr>
        <p:sp>
          <p:nvSpPr>
            <p:cNvPr id="20" name="Rectangle: Single Corner Rounded 19">
              <a:extLst>
                <a:ext uri="{FF2B5EF4-FFF2-40B4-BE49-F238E27FC236}">
                  <a16:creationId xmlns:a16="http://schemas.microsoft.com/office/drawing/2014/main" id="{781778D9-CA51-A86D-3DDA-E02D80D3FF12}"/>
                </a:ext>
              </a:extLst>
            </p:cNvPr>
            <p:cNvSpPr/>
            <p:nvPr/>
          </p:nvSpPr>
          <p:spPr>
            <a:xfrm>
              <a:off x="1" y="1606789"/>
              <a:ext cx="3470011" cy="47093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numCol="1" spcCol="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0BC2D0D-6862-CA4A-A777-A86CFFD4A5FF}"/>
                </a:ext>
              </a:extLst>
            </p:cNvPr>
            <p:cNvSpPr/>
            <p:nvPr/>
          </p:nvSpPr>
          <p:spPr>
            <a:xfrm>
              <a:off x="1" y="2077720"/>
              <a:ext cx="3470011" cy="4709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C373803-4F0E-3559-A687-E23FCC8E1305}"/>
                </a:ext>
              </a:extLst>
            </p:cNvPr>
            <p:cNvSpPr/>
            <p:nvPr/>
          </p:nvSpPr>
          <p:spPr>
            <a:xfrm>
              <a:off x="1" y="2548650"/>
              <a:ext cx="3470011" cy="47093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2C27DEE-630D-9A11-7DF4-A9B01904016F}"/>
                </a:ext>
              </a:extLst>
            </p:cNvPr>
            <p:cNvSpPr/>
            <p:nvPr/>
          </p:nvSpPr>
          <p:spPr>
            <a:xfrm>
              <a:off x="1" y="3019580"/>
              <a:ext cx="3470011" cy="4709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: Single Corner Rounded 33">
              <a:extLst>
                <a:ext uri="{FF2B5EF4-FFF2-40B4-BE49-F238E27FC236}">
                  <a16:creationId xmlns:a16="http://schemas.microsoft.com/office/drawing/2014/main" id="{2391BD62-CEC8-0313-195E-5AE848987863}"/>
                </a:ext>
              </a:extLst>
            </p:cNvPr>
            <p:cNvSpPr/>
            <p:nvPr/>
          </p:nvSpPr>
          <p:spPr>
            <a:xfrm flipV="1">
              <a:off x="0" y="3490510"/>
              <a:ext cx="3470011" cy="467663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numCol="1" spcCol="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aphicFrame>
        <p:nvGraphicFramePr>
          <p:cNvPr id="18" name="Content Placeholder 3">
            <a:extLst>
              <a:ext uri="{FF2B5EF4-FFF2-40B4-BE49-F238E27FC236}">
                <a16:creationId xmlns:a16="http://schemas.microsoft.com/office/drawing/2014/main" id="{D3DAE653-8642-1783-E49B-4E9130BB2B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03387069"/>
              </p:ext>
            </p:extLst>
          </p:nvPr>
        </p:nvGraphicFramePr>
        <p:xfrm>
          <a:off x="0" y="1606788"/>
          <a:ext cx="5537200" cy="37932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2312058624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529335587"/>
                    </a:ext>
                  </a:extLst>
                </a:gridCol>
              </a:tblGrid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Background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813600567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Project Aims &amp; Objectives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377395039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Progress to Date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3619643445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Plan for Remainder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813601940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Summary &amp; Conclusion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337709630"/>
                  </a:ext>
                </a:extLst>
              </a:tr>
            </a:tbl>
          </a:graphicData>
        </a:graphic>
      </p:graphicFrame>
      <p:sp>
        <p:nvSpPr>
          <p:cNvPr id="43" name="Title 1">
            <a:extLst>
              <a:ext uri="{FF2B5EF4-FFF2-40B4-BE49-F238E27FC236}">
                <a16:creationId xmlns:a16="http://schemas.microsoft.com/office/drawing/2014/main" id="{660BB4A9-2421-DB6F-9F3D-98FFD887F537}"/>
              </a:ext>
            </a:extLst>
          </p:cNvPr>
          <p:cNvSpPr txBox="1">
            <a:spLocks/>
          </p:cNvSpPr>
          <p:nvPr/>
        </p:nvSpPr>
        <p:spPr>
          <a:xfrm>
            <a:off x="19363400" y="918580"/>
            <a:ext cx="9144000" cy="184794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b="1" dirty="0"/>
              <a:t>FYP Interim Presentation</a:t>
            </a:r>
          </a:p>
        </p:txBody>
      </p:sp>
      <p:sp>
        <p:nvSpPr>
          <p:cNvPr id="44" name="Subtitle 2">
            <a:extLst>
              <a:ext uri="{FF2B5EF4-FFF2-40B4-BE49-F238E27FC236}">
                <a16:creationId xmlns:a16="http://schemas.microsoft.com/office/drawing/2014/main" id="{D659971A-F105-D0B5-D28E-A935752F0D1F}"/>
              </a:ext>
            </a:extLst>
          </p:cNvPr>
          <p:cNvSpPr txBox="1">
            <a:spLocks/>
          </p:cNvSpPr>
          <p:nvPr/>
        </p:nvSpPr>
        <p:spPr>
          <a:xfrm>
            <a:off x="19387564" y="2906299"/>
            <a:ext cx="11111656" cy="3793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765" rtl="0" eaLnBrk="1" latinLnBrk="0" hangingPunct="1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 kern="1200">
                <a:solidFill>
                  <a:schemeClr val="accent1"/>
                </a:solidFill>
                <a:latin typeface="+mn-lt"/>
                <a:ea typeface="Inter Medium" panose="02000503000000020004" pitchFamily="2" charset="0"/>
                <a:cs typeface="+mn-cs"/>
              </a:defRPr>
            </a:lvl1pPr>
            <a:lvl2pPr marL="342882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685765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47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30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12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295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177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060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i="1" dirty="0"/>
              <a:t>Leveraging Low-Precision Hardware for High-Fidelity CFD: Integrating the Ozaki Scheme into Nektar++</a:t>
            </a:r>
            <a:endParaRPr lang="en-US" sz="2200" i="1" dirty="0">
              <a:latin typeface="Imperial Sans Text Medium"/>
            </a:endParaRPr>
          </a:p>
          <a:p>
            <a:pPr>
              <a:spcBef>
                <a:spcPts val="1800"/>
              </a:spcBef>
            </a:pPr>
            <a:r>
              <a:rPr lang="en-GB" sz="2200" dirty="0">
                <a:latin typeface="Imperial Sans Text Medium"/>
              </a:rPr>
              <a:t>Paul Kallarackel</a:t>
            </a:r>
          </a:p>
          <a:p>
            <a:r>
              <a:rPr lang="en-GB" sz="2200" dirty="0">
                <a:latin typeface="Imperial Sans Text Medium"/>
              </a:rPr>
              <a:t>02029025</a:t>
            </a:r>
          </a:p>
          <a:p>
            <a:r>
              <a:rPr lang="en-GB" sz="2200" dirty="0">
                <a:latin typeface="Imperial Sans Text Medium"/>
              </a:rPr>
              <a:t>11/03/2026</a:t>
            </a:r>
          </a:p>
        </p:txBody>
      </p:sp>
      <p:pic>
        <p:nvPicPr>
          <p:cNvPr id="64" name="ProgressGear_Animated" descr="Single gear with solid fill">
            <a:extLst>
              <a:ext uri="{FF2B5EF4-FFF2-40B4-BE49-F238E27FC236}">
                <a16:creationId xmlns:a16="http://schemas.microsoft.com/office/drawing/2014/main" id="{C6C595A9-AD1C-86F5-8ED5-0F492BB3AC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9994" y="6194948"/>
            <a:ext cx="420606" cy="42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0163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3B8F2-5122-1E62-A7BB-02E4DBEE4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FooterBanner">
            <a:extLst>
              <a:ext uri="{FF2B5EF4-FFF2-40B4-BE49-F238E27FC236}">
                <a16:creationId xmlns:a16="http://schemas.microsoft.com/office/drawing/2014/main" id="{47E20B94-2166-2281-001F-3D6D03E25A35}"/>
              </a:ext>
            </a:extLst>
          </p:cNvPr>
          <p:cNvSpPr/>
          <p:nvPr/>
        </p:nvSpPr>
        <p:spPr>
          <a:xfrm>
            <a:off x="0" y="6405251"/>
            <a:ext cx="12240000" cy="90549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61" name="Group 4">
            <a:extLst>
              <a:ext uri="{FF2B5EF4-FFF2-40B4-BE49-F238E27FC236}">
                <a16:creationId xmlns:a16="http://schemas.microsoft.com/office/drawing/2014/main" id="{3678EBF4-B409-1B30-0A0A-E90C84D48DC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27025" y="6569208"/>
            <a:ext cx="676041" cy="74559"/>
            <a:chOff x="0" y="3473"/>
            <a:chExt cx="15360" cy="1694"/>
          </a:xfrm>
          <a:solidFill>
            <a:schemeClr val="accent1"/>
          </a:solidFill>
        </p:grpSpPr>
        <p:sp>
          <p:nvSpPr>
            <p:cNvPr id="62" name="Freeform 5">
              <a:extLst>
                <a:ext uri="{FF2B5EF4-FFF2-40B4-BE49-F238E27FC236}">
                  <a16:creationId xmlns:a16="http://schemas.microsoft.com/office/drawing/2014/main" id="{3048CE12-BCC3-8F42-BBD2-5F245BEAA33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3" name="Freeform 6">
              <a:extLst>
                <a:ext uri="{FF2B5EF4-FFF2-40B4-BE49-F238E27FC236}">
                  <a16:creationId xmlns:a16="http://schemas.microsoft.com/office/drawing/2014/main" id="{4068596B-EFBB-02A5-D956-2F8AA930DA2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4" name="Freeform 7">
              <a:extLst>
                <a:ext uri="{FF2B5EF4-FFF2-40B4-BE49-F238E27FC236}">
                  <a16:creationId xmlns:a16="http://schemas.microsoft.com/office/drawing/2014/main" id="{A8BAC6FC-9688-23D9-0B1A-1A96B4EE409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5" name="Freeform 8">
              <a:extLst>
                <a:ext uri="{FF2B5EF4-FFF2-40B4-BE49-F238E27FC236}">
                  <a16:creationId xmlns:a16="http://schemas.microsoft.com/office/drawing/2014/main" id="{4A08BD78-F8F4-57C1-96F9-AD7B0C56D39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66" name="Freeform 9">
              <a:extLst>
                <a:ext uri="{FF2B5EF4-FFF2-40B4-BE49-F238E27FC236}">
                  <a16:creationId xmlns:a16="http://schemas.microsoft.com/office/drawing/2014/main" id="{30CB9117-BF8C-CDE3-7C96-D7DE46CAEB7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7" name="Freeform 10">
              <a:extLst>
                <a:ext uri="{FF2B5EF4-FFF2-40B4-BE49-F238E27FC236}">
                  <a16:creationId xmlns:a16="http://schemas.microsoft.com/office/drawing/2014/main" id="{86AA8D6B-8770-2252-2171-B6875D68BC0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8" name="Freeform 11">
              <a:extLst>
                <a:ext uri="{FF2B5EF4-FFF2-40B4-BE49-F238E27FC236}">
                  <a16:creationId xmlns:a16="http://schemas.microsoft.com/office/drawing/2014/main" id="{7CE8A49E-EAEA-E3B9-1776-9D5FD5BA091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69" name="Freeform 12">
              <a:extLst>
                <a:ext uri="{FF2B5EF4-FFF2-40B4-BE49-F238E27FC236}">
                  <a16:creationId xmlns:a16="http://schemas.microsoft.com/office/drawing/2014/main" id="{27E22C3C-1C9B-C8C6-F3A4-6120A06BAA7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23D817-A3F4-7A8A-628E-5493D0F6335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10665349" y="6537853"/>
            <a:ext cx="1233647" cy="137270"/>
          </a:xfrm>
        </p:spPr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F0EC9-BF08-6EBA-E5D3-98F32FA1D33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1989261" y="6537853"/>
            <a:ext cx="3423452" cy="137272"/>
          </a:xfrm>
        </p:spPr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90E595-CB5F-CBC7-7AEF-CB58E887B90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5960755" y="6537853"/>
            <a:ext cx="318491" cy="137272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B878550-26B4-0548-BAAC-723827229FEB}"/>
              </a:ext>
            </a:extLst>
          </p:cNvPr>
          <p:cNvSpPr/>
          <p:nvPr/>
        </p:nvSpPr>
        <p:spPr>
          <a:xfrm>
            <a:off x="-5572" y="0"/>
            <a:ext cx="4680000" cy="540000"/>
          </a:xfrm>
          <a:prstGeom prst="roundRect">
            <a:avLst/>
          </a:prstGeom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98AB20E-C593-D771-3ADE-F3598253E88A}"/>
              </a:ext>
            </a:extLst>
          </p:cNvPr>
          <p:cNvSpPr/>
          <p:nvPr/>
        </p:nvSpPr>
        <p:spPr>
          <a:xfrm>
            <a:off x="4672356" y="-2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D7C6EE1-854D-7F5C-EF32-3512530801E7}"/>
              </a:ext>
            </a:extLst>
          </p:cNvPr>
          <p:cNvSpPr/>
          <p:nvPr/>
        </p:nvSpPr>
        <p:spPr>
          <a:xfrm>
            <a:off x="6548904" y="-1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01BA4E9-0F84-0933-6027-136AA1A92224}"/>
              </a:ext>
            </a:extLst>
          </p:cNvPr>
          <p:cNvSpPr/>
          <p:nvPr/>
        </p:nvSpPr>
        <p:spPr>
          <a:xfrm>
            <a:off x="8425452" y="-1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65AC69C-7307-90BC-609D-B9324050CD03}"/>
              </a:ext>
            </a:extLst>
          </p:cNvPr>
          <p:cNvSpPr/>
          <p:nvPr/>
        </p:nvSpPr>
        <p:spPr>
          <a:xfrm>
            <a:off x="10302000" y="-3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E9B60CA-69C1-0EBC-9148-DCA6A04EC193}"/>
              </a:ext>
            </a:extLst>
          </p:cNvPr>
          <p:cNvSpPr txBox="1">
            <a:spLocks/>
          </p:cNvSpPr>
          <p:nvPr/>
        </p:nvSpPr>
        <p:spPr>
          <a:xfrm>
            <a:off x="-7987330" y="332899"/>
            <a:ext cx="5094219" cy="906621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Outline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5CF7AC9-9D7D-A120-8A47-A5681991025A}"/>
              </a:ext>
            </a:extLst>
          </p:cNvPr>
          <p:cNvSpPr txBox="1"/>
          <p:nvPr/>
        </p:nvSpPr>
        <p:spPr>
          <a:xfrm>
            <a:off x="-6402146" y="3019580"/>
            <a:ext cx="102813" cy="5440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endParaRPr lang="en-GB" sz="1600" dirty="0">
              <a:solidFill>
                <a:schemeClr val="tx1"/>
              </a:solidFill>
            </a:endParaRP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A4C1178-FAED-8F81-0CCC-DD36A5D3558F}"/>
              </a:ext>
            </a:extLst>
          </p:cNvPr>
          <p:cNvGrpSpPr/>
          <p:nvPr/>
        </p:nvGrpSpPr>
        <p:grpSpPr>
          <a:xfrm>
            <a:off x="-8305824" y="1606788"/>
            <a:ext cx="5862320" cy="3793251"/>
            <a:chOff x="0" y="1606789"/>
            <a:chExt cx="3470012" cy="2351384"/>
          </a:xfrm>
        </p:grpSpPr>
        <p:sp>
          <p:nvSpPr>
            <p:cNvPr id="54" name="Rectangle: Single Corner Rounded 53">
              <a:extLst>
                <a:ext uri="{FF2B5EF4-FFF2-40B4-BE49-F238E27FC236}">
                  <a16:creationId xmlns:a16="http://schemas.microsoft.com/office/drawing/2014/main" id="{0B20AB78-58E6-1961-112F-9AA94C4AF508}"/>
                </a:ext>
              </a:extLst>
            </p:cNvPr>
            <p:cNvSpPr/>
            <p:nvPr/>
          </p:nvSpPr>
          <p:spPr>
            <a:xfrm>
              <a:off x="1" y="1606789"/>
              <a:ext cx="3470011" cy="47093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numCol="1" spcCol="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4F0CD7C-5CC1-A78B-98C7-462CD6A90323}"/>
                </a:ext>
              </a:extLst>
            </p:cNvPr>
            <p:cNvSpPr/>
            <p:nvPr/>
          </p:nvSpPr>
          <p:spPr>
            <a:xfrm>
              <a:off x="1" y="2077720"/>
              <a:ext cx="3470011" cy="4709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EBD83DE-3FC0-DE78-FB26-DCF6698190B2}"/>
                </a:ext>
              </a:extLst>
            </p:cNvPr>
            <p:cNvSpPr/>
            <p:nvPr/>
          </p:nvSpPr>
          <p:spPr>
            <a:xfrm>
              <a:off x="1" y="2548650"/>
              <a:ext cx="3470011" cy="47093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974A380E-A33C-B3F2-2B81-022E15D865B0}"/>
                </a:ext>
              </a:extLst>
            </p:cNvPr>
            <p:cNvSpPr/>
            <p:nvPr/>
          </p:nvSpPr>
          <p:spPr>
            <a:xfrm>
              <a:off x="1" y="3019580"/>
              <a:ext cx="3470011" cy="4709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58" name="Rectangle: Single Corner Rounded 57">
              <a:extLst>
                <a:ext uri="{FF2B5EF4-FFF2-40B4-BE49-F238E27FC236}">
                  <a16:creationId xmlns:a16="http://schemas.microsoft.com/office/drawing/2014/main" id="{8FC5B74A-F3A8-A1D5-2702-CEDFA78F7853}"/>
                </a:ext>
              </a:extLst>
            </p:cNvPr>
            <p:cNvSpPr/>
            <p:nvPr/>
          </p:nvSpPr>
          <p:spPr>
            <a:xfrm flipV="1">
              <a:off x="0" y="3490510"/>
              <a:ext cx="3470011" cy="467663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numCol="1" spcCol="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aphicFrame>
        <p:nvGraphicFramePr>
          <p:cNvPr id="59" name="Content Placeholder 3">
            <a:extLst>
              <a:ext uri="{FF2B5EF4-FFF2-40B4-BE49-F238E27FC236}">
                <a16:creationId xmlns:a16="http://schemas.microsoft.com/office/drawing/2014/main" id="{9B4D6D51-C840-1557-CB65-C79C22480C9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0565213"/>
              </p:ext>
            </p:extLst>
          </p:nvPr>
        </p:nvGraphicFramePr>
        <p:xfrm>
          <a:off x="-8305824" y="1606788"/>
          <a:ext cx="5537200" cy="37932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2312058624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529335587"/>
                    </a:ext>
                  </a:extLst>
                </a:gridCol>
              </a:tblGrid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Background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813600567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Project Aims &amp; Objectives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377395039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Progress to Date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3619643445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Plan for Remainder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813601940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Summary &amp; Conclusion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337709630"/>
                  </a:ext>
                </a:extLst>
              </a:tr>
            </a:tbl>
          </a:graphicData>
        </a:graphic>
      </p:graphicFrame>
      <p:pic>
        <p:nvPicPr>
          <p:cNvPr id="77" name="ProgressGear_Animated" descr="Single gear with solid fill">
            <a:extLst>
              <a:ext uri="{FF2B5EF4-FFF2-40B4-BE49-F238E27FC236}">
                <a16:creationId xmlns:a16="http://schemas.microsoft.com/office/drawing/2014/main" id="{C3AEF5ED-FFAB-FEC5-85C2-4B59A13ECB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960000">
            <a:off x="2579875" y="6194948"/>
            <a:ext cx="420606" cy="42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5709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CBD19-48B3-5EA5-D0E5-18366CD3D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Banner">
            <a:extLst>
              <a:ext uri="{FF2B5EF4-FFF2-40B4-BE49-F238E27FC236}">
                <a16:creationId xmlns:a16="http://schemas.microsoft.com/office/drawing/2014/main" id="{C1D69A00-0D52-E001-4EBB-57D06ADC13B6}"/>
              </a:ext>
            </a:extLst>
          </p:cNvPr>
          <p:cNvSpPr/>
          <p:nvPr/>
        </p:nvSpPr>
        <p:spPr>
          <a:xfrm>
            <a:off x="0" y="6405251"/>
            <a:ext cx="12240000" cy="90549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527F5FE0-EAF7-9651-9BCE-322F5C7F09F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27025" y="6569208"/>
            <a:ext cx="676041" cy="74559"/>
            <a:chOff x="0" y="3473"/>
            <a:chExt cx="15360" cy="1694"/>
          </a:xfrm>
          <a:solidFill>
            <a:schemeClr val="accent1"/>
          </a:solidFill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37DB2684-9700-E877-C6E9-52ED4811603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4A76FBF0-7BBD-202C-57DA-043EEE07C85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4DA4E56D-AB8C-A0C3-20F1-5329C9126AF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EA22633F-5CF7-9F3E-F5E1-C60A879EB23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57FAB7DA-A168-8394-DE6D-62FD0C3D88C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790E19B0-F84B-9B4B-C87A-02C9BC02F25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4C1BCDF3-4DBF-6AE6-C7EE-9714862460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A586F4D-8203-1B9F-B9F3-BAE64F90923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E018D-3A27-3E18-89B5-19675EEC8826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10665349" y="6537853"/>
            <a:ext cx="1233647" cy="137270"/>
          </a:xfrm>
        </p:spPr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43C9FD-3AA2-907D-75C6-9537467C49D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1989261" y="6537853"/>
            <a:ext cx="3423452" cy="137272"/>
          </a:xfrm>
        </p:spPr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C8FA5-73CE-4EDF-1584-2C61D58238D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5960755" y="6537853"/>
            <a:ext cx="318491" cy="137272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7FEEAA0-3F57-96F1-D8FF-0261AEC7A033}"/>
              </a:ext>
            </a:extLst>
          </p:cNvPr>
          <p:cNvSpPr/>
          <p:nvPr/>
        </p:nvSpPr>
        <p:spPr>
          <a:xfrm>
            <a:off x="-5071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AEE035F-BF73-2EFE-BCE5-32E55C662C7D}"/>
              </a:ext>
            </a:extLst>
          </p:cNvPr>
          <p:cNvSpPr/>
          <p:nvPr/>
        </p:nvSpPr>
        <p:spPr>
          <a:xfrm>
            <a:off x="1874197" y="-2"/>
            <a:ext cx="4680000" cy="540000"/>
          </a:xfrm>
          <a:prstGeom prst="round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317AAD8-1EF6-C8E8-7569-E8CFB1B51EDB}"/>
              </a:ext>
            </a:extLst>
          </p:cNvPr>
          <p:cNvSpPr/>
          <p:nvPr/>
        </p:nvSpPr>
        <p:spPr>
          <a:xfrm>
            <a:off x="6543465" y="-1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3299552-8C02-D339-450E-CC1D96EC67A0}"/>
              </a:ext>
            </a:extLst>
          </p:cNvPr>
          <p:cNvSpPr/>
          <p:nvPr/>
        </p:nvSpPr>
        <p:spPr>
          <a:xfrm>
            <a:off x="8422733" y="-1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674A1A8-9667-F412-6D40-D8BFD2C8625E}"/>
              </a:ext>
            </a:extLst>
          </p:cNvPr>
          <p:cNvSpPr/>
          <p:nvPr/>
        </p:nvSpPr>
        <p:spPr>
          <a:xfrm>
            <a:off x="10302000" y="-3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  <p:pic>
        <p:nvPicPr>
          <p:cNvPr id="27" name="ProgressGear_Animated" descr="Single gear with solid fill">
            <a:extLst>
              <a:ext uri="{FF2B5EF4-FFF2-40B4-BE49-F238E27FC236}">
                <a16:creationId xmlns:a16="http://schemas.microsoft.com/office/drawing/2014/main" id="{CD3A0A10-13BC-42E6-F32B-455AC66C71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5920000">
            <a:off x="4799757" y="6194948"/>
            <a:ext cx="420606" cy="42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6746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A06AB-4695-8BF5-B2B2-6CEB7E04E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Banner">
            <a:extLst>
              <a:ext uri="{FF2B5EF4-FFF2-40B4-BE49-F238E27FC236}">
                <a16:creationId xmlns:a16="http://schemas.microsoft.com/office/drawing/2014/main" id="{167F2E07-5715-74CB-CB3F-7A0CA6469D5E}"/>
              </a:ext>
            </a:extLst>
          </p:cNvPr>
          <p:cNvSpPr/>
          <p:nvPr/>
        </p:nvSpPr>
        <p:spPr>
          <a:xfrm>
            <a:off x="0" y="6405251"/>
            <a:ext cx="12240000" cy="90549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63D5141D-F922-95C9-F04D-744A86732A8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27025" y="6569208"/>
            <a:ext cx="676041" cy="74559"/>
            <a:chOff x="0" y="3473"/>
            <a:chExt cx="15360" cy="1694"/>
          </a:xfrm>
          <a:solidFill>
            <a:schemeClr val="accent1"/>
          </a:solidFill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911D06CF-3057-AFBF-A21E-77FFE712AAE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60A7C1BD-1AE7-AFF1-DB82-A2D283C3525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08CB87FD-5947-0AC1-DE61-57BEF670EFC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CD0B6BD8-BE41-0F58-30A8-E261E9DDC2A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0E89F569-CFC1-04B8-21A4-5E886ADD9E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AEC66CB3-41E3-5F7D-E2A8-AB724854D86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E657BF42-C90A-C92F-F542-B9BFA582627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C178AC2B-63A8-5224-7B28-4388844269A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CAD6F-0F41-50B6-EE02-75EFFF2E15AB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10665349" y="6537853"/>
            <a:ext cx="1233647" cy="137270"/>
          </a:xfrm>
        </p:spPr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B3096F-9019-E64B-B671-A69D3DDE30A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1989261" y="6537853"/>
            <a:ext cx="3423452" cy="137272"/>
          </a:xfrm>
        </p:spPr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D56C4-8EA4-620B-25F2-6DB7992768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5960755" y="6537853"/>
            <a:ext cx="318491" cy="137272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F2DE270-8785-40D7-2F97-83AD050D1EC4}"/>
              </a:ext>
            </a:extLst>
          </p:cNvPr>
          <p:cNvSpPr/>
          <p:nvPr/>
        </p:nvSpPr>
        <p:spPr>
          <a:xfrm>
            <a:off x="-6450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975D6F1-D1D0-552A-D9D5-A074170108C1}"/>
              </a:ext>
            </a:extLst>
          </p:cNvPr>
          <p:cNvSpPr/>
          <p:nvPr/>
        </p:nvSpPr>
        <p:spPr>
          <a:xfrm>
            <a:off x="1877100" y="-2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2F64457-6FC8-A38F-B4FA-9A5807C64FA2}"/>
              </a:ext>
            </a:extLst>
          </p:cNvPr>
          <p:cNvSpPr/>
          <p:nvPr/>
        </p:nvSpPr>
        <p:spPr>
          <a:xfrm>
            <a:off x="3755400" y="-1"/>
            <a:ext cx="4680000" cy="540000"/>
          </a:xfrm>
          <a:prstGeom prst="round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6E6FA25-D17C-0F0E-0C79-5924000DC931}"/>
              </a:ext>
            </a:extLst>
          </p:cNvPr>
          <p:cNvSpPr/>
          <p:nvPr/>
        </p:nvSpPr>
        <p:spPr>
          <a:xfrm>
            <a:off x="8423700" y="-1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497BED-208E-6ED8-9684-8B0B8231CE57}"/>
              </a:ext>
            </a:extLst>
          </p:cNvPr>
          <p:cNvSpPr/>
          <p:nvPr/>
        </p:nvSpPr>
        <p:spPr>
          <a:xfrm>
            <a:off x="10302000" y="-2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  <p:pic>
        <p:nvPicPr>
          <p:cNvPr id="27" name="ProgressGear_Animated" descr="Single gear with solid fill">
            <a:extLst>
              <a:ext uri="{FF2B5EF4-FFF2-40B4-BE49-F238E27FC236}">
                <a16:creationId xmlns:a16="http://schemas.microsoft.com/office/drawing/2014/main" id="{40740F71-F10B-20F1-BCF8-60EA7C87F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8880000">
            <a:off x="7019637" y="6194948"/>
            <a:ext cx="420606" cy="42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018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F9BAD-D8A4-C0A9-FA4D-D6009B611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Banner">
            <a:extLst>
              <a:ext uri="{FF2B5EF4-FFF2-40B4-BE49-F238E27FC236}">
                <a16:creationId xmlns:a16="http://schemas.microsoft.com/office/drawing/2014/main" id="{A5EBB444-730D-CC92-3B41-9FBE9A4CB7F9}"/>
              </a:ext>
            </a:extLst>
          </p:cNvPr>
          <p:cNvSpPr/>
          <p:nvPr/>
        </p:nvSpPr>
        <p:spPr>
          <a:xfrm>
            <a:off x="0" y="6405251"/>
            <a:ext cx="12240000" cy="90549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30B0F04E-0B1A-5C1B-81EB-EF0A47FC68D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27025" y="6569208"/>
            <a:ext cx="676041" cy="74559"/>
            <a:chOff x="0" y="3473"/>
            <a:chExt cx="15360" cy="1694"/>
          </a:xfrm>
          <a:solidFill>
            <a:schemeClr val="accent1"/>
          </a:solidFill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ECCC1090-2AF6-9B8C-6820-275D2E03A81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2459E553-FFE6-7819-F930-115B7F72215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79D29080-E899-0165-592C-AB472016008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09411DD3-E7D9-A293-794F-911F691463C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096FAB83-D94E-26A9-E2CD-A4B896EC472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0142BCB4-3D3E-DF7E-35EB-5D70C58DA42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4187B8F1-B240-9F5E-7B8B-E57AE97FCD6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939BAAA4-8720-9832-9C61-8A08019DCBB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93468-777F-3CDB-C41D-3D33853BCF4A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10665349" y="6537853"/>
            <a:ext cx="1233647" cy="137270"/>
          </a:xfrm>
        </p:spPr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EECB6-56CA-A9DC-6639-FE035A20B28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1989261" y="6537853"/>
            <a:ext cx="3423452" cy="137272"/>
          </a:xfrm>
        </p:spPr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81939-D4BB-A72C-F2EE-DF316261B4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5960755" y="6537853"/>
            <a:ext cx="318491" cy="137272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6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AE4A63A-AC26-A77F-BB51-63DE37BB8E15}"/>
              </a:ext>
            </a:extLst>
          </p:cNvPr>
          <p:cNvSpPr/>
          <p:nvPr/>
        </p:nvSpPr>
        <p:spPr>
          <a:xfrm>
            <a:off x="-17250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9DA3DEE-39D9-CA4D-9528-CE7471503653}"/>
              </a:ext>
            </a:extLst>
          </p:cNvPr>
          <p:cNvSpPr/>
          <p:nvPr/>
        </p:nvSpPr>
        <p:spPr>
          <a:xfrm>
            <a:off x="1867855" y="-2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5A03ABE-ECD1-249B-F96D-1C2FC86CEDA7}"/>
              </a:ext>
            </a:extLst>
          </p:cNvPr>
          <p:cNvSpPr/>
          <p:nvPr/>
        </p:nvSpPr>
        <p:spPr>
          <a:xfrm>
            <a:off x="3752960" y="-1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1D830CC-ED4A-0323-60A2-CF742F7836C1}"/>
              </a:ext>
            </a:extLst>
          </p:cNvPr>
          <p:cNvSpPr/>
          <p:nvPr/>
        </p:nvSpPr>
        <p:spPr>
          <a:xfrm>
            <a:off x="5638066" y="-1"/>
            <a:ext cx="4680000" cy="540000"/>
          </a:xfrm>
          <a:prstGeom prst="round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C836AD5-8985-AFD6-FD6A-F2C673412C91}"/>
              </a:ext>
            </a:extLst>
          </p:cNvPr>
          <p:cNvSpPr/>
          <p:nvPr/>
        </p:nvSpPr>
        <p:spPr>
          <a:xfrm>
            <a:off x="10313172" y="-2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  <p:pic>
        <p:nvPicPr>
          <p:cNvPr id="27" name="ProgressGear_Animated" descr="Single gear with solid fill">
            <a:extLst>
              <a:ext uri="{FF2B5EF4-FFF2-40B4-BE49-F238E27FC236}">
                <a16:creationId xmlns:a16="http://schemas.microsoft.com/office/drawing/2014/main" id="{96A4755A-5F8F-AD04-CBC2-E360A2BDF9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1840000">
            <a:off x="9239519" y="6194948"/>
            <a:ext cx="420606" cy="42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9349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9F991-BD91-0363-2EC3-4424F325F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ooterBanner">
            <a:extLst>
              <a:ext uri="{FF2B5EF4-FFF2-40B4-BE49-F238E27FC236}">
                <a16:creationId xmlns:a16="http://schemas.microsoft.com/office/drawing/2014/main" id="{7A5C15BC-CF46-50CA-6E83-6E354636E9F0}"/>
              </a:ext>
            </a:extLst>
          </p:cNvPr>
          <p:cNvSpPr/>
          <p:nvPr/>
        </p:nvSpPr>
        <p:spPr>
          <a:xfrm>
            <a:off x="0" y="6405251"/>
            <a:ext cx="12240000" cy="90549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31" name="Group 4">
            <a:extLst>
              <a:ext uri="{FF2B5EF4-FFF2-40B4-BE49-F238E27FC236}">
                <a16:creationId xmlns:a16="http://schemas.microsoft.com/office/drawing/2014/main" id="{525108B3-04C4-B316-41EE-287442092EB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27025" y="6569208"/>
            <a:ext cx="676041" cy="74559"/>
            <a:chOff x="0" y="3473"/>
            <a:chExt cx="15360" cy="1694"/>
          </a:xfrm>
          <a:solidFill>
            <a:schemeClr val="accent1"/>
          </a:solidFill>
        </p:grpSpPr>
        <p:sp>
          <p:nvSpPr>
            <p:cNvPr id="32" name="Freeform 5">
              <a:extLst>
                <a:ext uri="{FF2B5EF4-FFF2-40B4-BE49-F238E27FC236}">
                  <a16:creationId xmlns:a16="http://schemas.microsoft.com/office/drawing/2014/main" id="{A567A156-256D-D8E2-C66C-7990D34B240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3" name="Freeform 6">
              <a:extLst>
                <a:ext uri="{FF2B5EF4-FFF2-40B4-BE49-F238E27FC236}">
                  <a16:creationId xmlns:a16="http://schemas.microsoft.com/office/drawing/2014/main" id="{978B4AD3-AAF3-04FC-3285-F65000EE81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4" name="Freeform 7">
              <a:extLst>
                <a:ext uri="{FF2B5EF4-FFF2-40B4-BE49-F238E27FC236}">
                  <a16:creationId xmlns:a16="http://schemas.microsoft.com/office/drawing/2014/main" id="{9D8B7504-8338-A724-E31E-95517283621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5" name="Freeform 8">
              <a:extLst>
                <a:ext uri="{FF2B5EF4-FFF2-40B4-BE49-F238E27FC236}">
                  <a16:creationId xmlns:a16="http://schemas.microsoft.com/office/drawing/2014/main" id="{E1D46B73-CA21-FB8B-DA19-52EFD848AEA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36" name="Freeform 9">
              <a:extLst>
                <a:ext uri="{FF2B5EF4-FFF2-40B4-BE49-F238E27FC236}">
                  <a16:creationId xmlns:a16="http://schemas.microsoft.com/office/drawing/2014/main" id="{BB7CCAAD-8B08-E1BF-AF29-8C7522AF29F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7" name="Freeform 10">
              <a:extLst>
                <a:ext uri="{FF2B5EF4-FFF2-40B4-BE49-F238E27FC236}">
                  <a16:creationId xmlns:a16="http://schemas.microsoft.com/office/drawing/2014/main" id="{C84FCD0E-3E80-98B0-A79A-DA7A95FEA8C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8" name="Freeform 11">
              <a:extLst>
                <a:ext uri="{FF2B5EF4-FFF2-40B4-BE49-F238E27FC236}">
                  <a16:creationId xmlns:a16="http://schemas.microsoft.com/office/drawing/2014/main" id="{82C90FF7-2AD5-6CAE-AC21-08DF26743F5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39" name="Freeform 12">
              <a:extLst>
                <a:ext uri="{FF2B5EF4-FFF2-40B4-BE49-F238E27FC236}">
                  <a16:creationId xmlns:a16="http://schemas.microsoft.com/office/drawing/2014/main" id="{281659FE-63F6-1E52-842E-AEC214CC74F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BD6F9-7D88-3993-19A1-2ADA45532101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10665349" y="6537853"/>
            <a:ext cx="1233647" cy="137270"/>
          </a:xfrm>
        </p:spPr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F2135C-748E-335A-1B13-5D889D4AB10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1989261" y="6537853"/>
            <a:ext cx="3423452" cy="137272"/>
          </a:xfrm>
        </p:spPr>
        <p:txBody>
          <a:bodyPr/>
          <a:lstStyle/>
          <a:p>
            <a:r>
              <a:rPr lang="en-GB" dirty="0"/>
              <a:t>Project LRC001 – Paul Kallarackel - 02029025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DBDBEA-B8AF-7E92-5655-721FD039A2A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5960755" y="6537853"/>
            <a:ext cx="318491" cy="137272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7</a:t>
            </a:fld>
            <a:r>
              <a:rPr lang="en-GB" dirty="0"/>
              <a:t> / X 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A103F46-1119-AA58-6D3C-F881900430CA}"/>
              </a:ext>
            </a:extLst>
          </p:cNvPr>
          <p:cNvSpPr/>
          <p:nvPr/>
        </p:nvSpPr>
        <p:spPr>
          <a:xfrm>
            <a:off x="7521300" y="0"/>
            <a:ext cx="4680000" cy="540000"/>
          </a:xfrm>
          <a:prstGeom prst="round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68C07C5-76CE-A074-6B6D-FD08743E9E39}"/>
              </a:ext>
            </a:extLst>
          </p:cNvPr>
          <p:cNvSpPr/>
          <p:nvPr/>
        </p:nvSpPr>
        <p:spPr>
          <a:xfrm>
            <a:off x="0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D56A64-391A-E72F-19B4-3C389D905A6E}"/>
              </a:ext>
            </a:extLst>
          </p:cNvPr>
          <p:cNvSpPr/>
          <p:nvPr/>
        </p:nvSpPr>
        <p:spPr>
          <a:xfrm>
            <a:off x="1880325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8B8D5A-1E55-84F2-CCBE-60ACC90DBA6A}"/>
              </a:ext>
            </a:extLst>
          </p:cNvPr>
          <p:cNvSpPr/>
          <p:nvPr/>
        </p:nvSpPr>
        <p:spPr>
          <a:xfrm>
            <a:off x="3760650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02C924B-0ABA-19B9-6413-8CAD85EDD9A9}"/>
              </a:ext>
            </a:extLst>
          </p:cNvPr>
          <p:cNvSpPr/>
          <p:nvPr/>
        </p:nvSpPr>
        <p:spPr>
          <a:xfrm>
            <a:off x="5640975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4F37B8D6-D1BF-5E4D-7F0E-49DB3735CF46}"/>
              </a:ext>
            </a:extLst>
          </p:cNvPr>
          <p:cNvSpPr txBox="1">
            <a:spLocks/>
          </p:cNvSpPr>
          <p:nvPr/>
        </p:nvSpPr>
        <p:spPr>
          <a:xfrm>
            <a:off x="-11637721" y="3338719"/>
            <a:ext cx="9144000" cy="182840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Thank you for listening!</a:t>
            </a:r>
            <a:br>
              <a:rPr lang="en-GB"/>
            </a:br>
            <a:r>
              <a:rPr lang="en-GB"/>
              <a:t>Any Questions?</a:t>
            </a:r>
            <a:endParaRPr lang="en-GB" dirty="0"/>
          </a:p>
        </p:txBody>
      </p:sp>
      <p:pic>
        <p:nvPicPr>
          <p:cNvPr id="52" name="ProgressGear_Animated" descr="Single gear with solid fill">
            <a:extLst>
              <a:ext uri="{FF2B5EF4-FFF2-40B4-BE49-F238E27FC236}">
                <a16:creationId xmlns:a16="http://schemas.microsoft.com/office/drawing/2014/main" id="{0CFA1C9D-C366-89A9-073D-E41EEEE392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64800000">
            <a:off x="11459400" y="6194948"/>
            <a:ext cx="420606" cy="42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0776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483A1-B206-A14E-4880-ABB342FD2F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Thank you for listening!</a:t>
            </a:r>
            <a:br>
              <a:rPr lang="en-GB" dirty="0"/>
            </a:br>
            <a:r>
              <a:rPr lang="en-GB" dirty="0"/>
              <a:t>Any Questions?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5842C0-AF12-3E4E-6E0F-922DDFAF2E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22D2C7-1812-60CB-C55C-14999217FDE1}"/>
              </a:ext>
            </a:extLst>
          </p:cNvPr>
          <p:cNvSpPr/>
          <p:nvPr/>
        </p:nvSpPr>
        <p:spPr>
          <a:xfrm>
            <a:off x="7521300" y="-1270005"/>
            <a:ext cx="4680000" cy="540000"/>
          </a:xfrm>
          <a:prstGeom prst="round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380BDD0-5E29-51EB-B561-AD0633B7E386}"/>
              </a:ext>
            </a:extLst>
          </p:cNvPr>
          <p:cNvSpPr/>
          <p:nvPr/>
        </p:nvSpPr>
        <p:spPr>
          <a:xfrm>
            <a:off x="0" y="-1270005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D4431F6-0B3C-C96D-650A-7DBFE08DB6E0}"/>
              </a:ext>
            </a:extLst>
          </p:cNvPr>
          <p:cNvSpPr/>
          <p:nvPr/>
        </p:nvSpPr>
        <p:spPr>
          <a:xfrm>
            <a:off x="1880325" y="-1270005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E0D63D0-FEFC-6070-C0E7-7541BD695039}"/>
              </a:ext>
            </a:extLst>
          </p:cNvPr>
          <p:cNvSpPr/>
          <p:nvPr/>
        </p:nvSpPr>
        <p:spPr>
          <a:xfrm>
            <a:off x="3760650" y="-1270005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1AEE106-F18F-7985-9E59-2D1A909CA0EC}"/>
              </a:ext>
            </a:extLst>
          </p:cNvPr>
          <p:cNvSpPr/>
          <p:nvPr/>
        </p:nvSpPr>
        <p:spPr>
          <a:xfrm>
            <a:off x="5640975" y="-1270005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9" name="FooterBanner">
            <a:extLst>
              <a:ext uri="{FF2B5EF4-FFF2-40B4-BE49-F238E27FC236}">
                <a16:creationId xmlns:a16="http://schemas.microsoft.com/office/drawing/2014/main" id="{84ACE6D3-32A0-1B00-8E05-7374E388AF36}"/>
              </a:ext>
            </a:extLst>
          </p:cNvPr>
          <p:cNvSpPr/>
          <p:nvPr/>
        </p:nvSpPr>
        <p:spPr>
          <a:xfrm>
            <a:off x="0" y="7154551"/>
            <a:ext cx="12240000" cy="90549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10" name="Group 4">
            <a:extLst>
              <a:ext uri="{FF2B5EF4-FFF2-40B4-BE49-F238E27FC236}">
                <a16:creationId xmlns:a16="http://schemas.microsoft.com/office/drawing/2014/main" id="{869F9B42-E613-CF50-59C3-7AEF017763B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27025" y="7318508"/>
            <a:ext cx="676041" cy="74559"/>
            <a:chOff x="0" y="3473"/>
            <a:chExt cx="15360" cy="1694"/>
          </a:xfrm>
          <a:solidFill>
            <a:schemeClr val="accent1"/>
          </a:solidFill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54C3D478-D1D5-A291-5D5D-B85724D2F25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A616B4FA-CB7A-9C03-A734-99EA937B0B6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98867113-BEEE-A415-0F81-1B8D53180A9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06CDA41-E710-C107-DCDA-6A76867C35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D2179047-9347-9665-1F8E-91B2BF4914C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C4195B21-EF38-146B-6713-7F8D66081CC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C7898CB1-5216-96A6-FEC4-7D1DA278A7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4435DD94-0282-A37A-55E8-9A63D270B8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19" name="Date Placeholder 3">
            <a:extLst>
              <a:ext uri="{FF2B5EF4-FFF2-40B4-BE49-F238E27FC236}">
                <a16:creationId xmlns:a16="http://schemas.microsoft.com/office/drawing/2014/main" id="{2D0774DC-C457-59B4-8C54-713EA5183F9D}"/>
              </a:ext>
            </a:extLst>
          </p:cNvPr>
          <p:cNvSpPr txBox="1">
            <a:spLocks/>
          </p:cNvSpPr>
          <p:nvPr/>
        </p:nvSpPr>
        <p:spPr>
          <a:xfrm>
            <a:off x="10665349" y="7287153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defPPr>
              <a:defRPr lang="en-US"/>
            </a:defPPr>
            <a:lvl1pPr marL="0" algn="r" defTabSz="914353" rtl="0" eaLnBrk="1" latinLnBrk="0" hangingPunct="1">
              <a:defRPr sz="85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177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0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6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0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36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952E26AA-DA22-063A-9BC5-4FFAF15F2ABB}"/>
              </a:ext>
            </a:extLst>
          </p:cNvPr>
          <p:cNvSpPr txBox="1">
            <a:spLocks/>
          </p:cNvSpPr>
          <p:nvPr/>
        </p:nvSpPr>
        <p:spPr>
          <a:xfrm>
            <a:off x="1989261" y="7287153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defPPr>
              <a:defRPr lang="en-US"/>
            </a:defPPr>
            <a:lvl1pPr marL="0" algn="l" defTabSz="914353" rtl="0" eaLnBrk="1" latinLnBrk="0" hangingPunct="1">
              <a:defRPr sz="85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177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0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6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0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36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D029B1CA-09F7-7C25-FBF4-7CF80178BCE9}"/>
              </a:ext>
            </a:extLst>
          </p:cNvPr>
          <p:cNvSpPr txBox="1">
            <a:spLocks/>
          </p:cNvSpPr>
          <p:nvPr/>
        </p:nvSpPr>
        <p:spPr>
          <a:xfrm>
            <a:off x="5960755" y="7287153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defPPr>
              <a:defRPr lang="en-US"/>
            </a:defPPr>
            <a:lvl1pPr marL="0" algn="ctr" defTabSz="914353" rtl="0" eaLnBrk="1" latinLnBrk="0" hangingPunct="1">
              <a:defRPr sz="85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177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0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6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0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36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3" algn="l" defTabSz="91435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BA53E11-492D-48B3-9F9B-09541CA2A39A}" type="slidenum">
              <a:rPr lang="en-GB" smtClean="0"/>
              <a:pPr/>
              <a:t>8</a:t>
            </a:fld>
            <a:r>
              <a:rPr lang="en-GB"/>
              <a:t> / X </a:t>
            </a:r>
            <a:endParaRPr lang="en-GB" dirty="0"/>
          </a:p>
        </p:txBody>
      </p:sp>
      <p:pic>
        <p:nvPicPr>
          <p:cNvPr id="27" name="ProgressGear_Animated" descr="Single gear with solid fill">
            <a:extLst>
              <a:ext uri="{FF2B5EF4-FFF2-40B4-BE49-F238E27FC236}">
                <a16:creationId xmlns:a16="http://schemas.microsoft.com/office/drawing/2014/main" id="{98781A35-9AB1-E8F5-36F3-37736B5B0D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64800000">
            <a:off x="11459400" y="6944248"/>
            <a:ext cx="420606" cy="42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0188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078589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4FBCA-4D7D-F121-1540-F4D96744B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CD65-9320-B6FB-1A60-E6B5A3180A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3CAB9C-F161-A8DA-70F9-625A3F5B17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Emulating Double Precision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3E182F3F-3DFE-4980-99D0-D841CB98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85E9C12-0B03-6C4E-7AE6-7254C2F53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BB0FCB9-9254-A593-8A69-D4215E643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10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44754738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A1311-4D63-76D6-233E-D21E99B72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D3A5B-2471-7FC5-5E83-992CEC6CD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22D0D-3D5B-BCDE-BCBB-D71A84E5D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Modern HPC relies on GPUs, but NVIDIA's roadmap (e.g., Hopper, Blackwell) is overwhelmingly optimized for the AI market.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has led to massive performance gains in low-precision formats (FP8, FP16, TF32) used for AI.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 contrast, double-precision (FP64), which is critical for scientific codes like Nektar++, is a low priority. Its performance is stagnating, and on some new architectures, it's even emulated.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Project Goal (Overall):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Investigate methods to emulate high-precision FP64 operators in Nektar++ (like </a:t>
            </a:r>
            <a:r>
              <a:rPr lang="en-US" dirty="0" err="1">
                <a:latin typeface="Courier New" panose="02070309020205020404" pitchFamily="49" charset="0"/>
              </a:rPr>
              <a:t>Dgemm</a:t>
            </a:r>
            <a:r>
              <a:rPr lang="en-US" dirty="0"/>
              <a:t>) using the faster, low-precision FP32 (</a:t>
            </a:r>
            <a:r>
              <a:rPr lang="en-US" dirty="0" err="1">
                <a:latin typeface="Courier New" panose="02070309020205020404" pitchFamily="49" charset="0"/>
              </a:rPr>
              <a:t>Sgemm</a:t>
            </a:r>
            <a:r>
              <a:rPr lang="en-US" dirty="0"/>
              <a:t>) hardware.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latin typeface="Google Sans Text"/>
              </a:rPr>
              <a:t>Short-Term Goal (Pre-Xmas):</a:t>
            </a:r>
            <a:endParaRPr lang="en-US" altLang="en-US" dirty="0"/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Google Sans Text"/>
              </a:rPr>
              <a:t>Implement a POC that emulates a DGEMM call with SGEMM</a:t>
            </a:r>
            <a:r>
              <a:rPr lang="en-US" altLang="en-US" sz="500" dirty="0">
                <a:latin typeface="Google Sans Text"/>
              </a:rPr>
              <a:t>.</a:t>
            </a:r>
            <a:endParaRPr lang="en-US" altLang="en-US" dirty="0">
              <a:latin typeface="Google Sans Text"/>
            </a:endParaRP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Google Sans Text"/>
              </a:rPr>
              <a:t>Success Criteria:</a:t>
            </a:r>
            <a:r>
              <a:rPr lang="en-US" altLang="en-US" dirty="0">
                <a:latin typeface="Google Sans Text"/>
              </a:rPr>
              <a:t> The emulated result must match the machine error epsilon of 10^-15.</a:t>
            </a: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Google Sans Text"/>
              </a:rPr>
              <a:t>Metrics:</a:t>
            </a:r>
            <a:r>
              <a:rPr lang="en-US" altLang="en-US" dirty="0">
                <a:latin typeface="Google Sans Text"/>
              </a:rPr>
              <a:t> Monitor performance (TFLOPS) and accuracy (max relative error) against the native FP64 baseline.</a:t>
            </a: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15ACDF4-426F-F7B9-3138-F5071F3516B6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Emulating Double Precision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1E159DB-26E9-855C-B286-A78C9771D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5755BC7-6763-CE40-81A5-DCAE4DE0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AD92578-A6A7-9767-D3D0-F1A49D92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11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3138996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3D0EB-F966-9A1F-DC34-45DAFBD86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1D7F6-171D-FF6F-04B2-EAC913D302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Current Literature	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5A70ED-45B7-8F28-A486-2A845D8F6E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Ozaki Algorithm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243E8ECD-56A8-4F4F-65D9-29B585F43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E28AD9D-CC91-4FC5-D43B-7615187A2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8907706-4F9F-F80C-ED53-D46871773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12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45767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98833-C24C-5942-C241-CB34D7A21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566AE-B160-2131-E5FB-F051DB2D5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34229-7548-DA18-0E5A-059E810DA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work focuses on increasing accuracy for FP64, not emulation. It's designed to compute results more accurately than a standard </a:t>
            </a:r>
            <a:r>
              <a:rPr lang="en-US" dirty="0" err="1"/>
              <a:t>Dgemm</a:t>
            </a:r>
            <a:r>
              <a:rPr lang="en-US" dirty="0"/>
              <a:t> by eliminating roundoff error. Key Technique: An "Error-Free Transformation" (EFT) that splits one double (FP64) into a sum of two other doubles.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The first term is error free since the beta (separator) is chosen strategically such that the bits from A and B including those required for carry fit inside a double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14A818E-ED38-3269-D066-FA7749845F22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Ozaki Algorithm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9F198C-A536-C174-4E2C-61551C58A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7" y="2494173"/>
            <a:ext cx="6087325" cy="13336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D4482D-B1FE-02B2-B6CF-19C42F6F2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4950" y="4971414"/>
            <a:ext cx="4945279" cy="1731567"/>
          </a:xfrm>
          <a:prstGeom prst="rect">
            <a:avLst/>
          </a:prstGeom>
        </p:spPr>
      </p:pic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2E8E2CF5-121B-0A27-5E14-0726B2EED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9B2D493-5410-503B-C10F-5DE3CB224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0817B2C7-CDD1-D4B8-DFDC-604EA93BD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13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550400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F3FBA-38D0-16BE-5E59-EECA8085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6516-6572-7555-AB4C-7CE05D82E1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73FB01-0A11-EE8C-27FA-CBF64A43FA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9AE5036-AB08-AB89-9568-C42A1000B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BEBBF90-158F-F51C-871D-1A9F0B06A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43D3288-61BD-BA80-C27F-2A0166621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14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9098152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C35DA-9D50-7087-D7EF-01775A40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6E6CE-F7F5-F5E6-23CE-11AA1731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1C777-9F6F-02E8-FB83-8A797246E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Our goal is different: we want to use fast FP32 hardware.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 must split one FP64 (53 bits) into a sum of multiple FP32s (24 bits each).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Difference:</a:t>
            </a:r>
            <a:r>
              <a:rPr lang="en-US" dirty="0"/>
              <a:t> In Method 1, the individual </a:t>
            </a:r>
            <a:r>
              <a:rPr lang="en-US" dirty="0" err="1"/>
              <a:t>Sgemm</a:t>
            </a:r>
            <a:r>
              <a:rPr lang="en-US" dirty="0"/>
              <a:t> calls </a:t>
            </a:r>
            <a:r>
              <a:rPr lang="en-US" i="1" dirty="0"/>
              <a:t>have</a:t>
            </a:r>
            <a:r>
              <a:rPr lang="en-US" dirty="0"/>
              <a:t> error, but the final 120-bit sum should be accurate. In Method 2, the </a:t>
            </a:r>
            <a:r>
              <a:rPr lang="en-US" dirty="0" err="1"/>
              <a:t>Sgemm</a:t>
            </a:r>
            <a:r>
              <a:rPr lang="en-US" dirty="0"/>
              <a:t> calls are </a:t>
            </a:r>
            <a:r>
              <a:rPr lang="en-US" i="1" dirty="0"/>
              <a:t>error-free</a:t>
            </a:r>
            <a:r>
              <a:rPr lang="en-US" dirty="0"/>
              <a:t>, but it's much more expensive.</a:t>
            </a: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C36E0BA-45C7-B303-42F7-CD4363C5FDF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C50DF4-44C9-B3DD-1A9E-FA2C47325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78" y="2122610"/>
            <a:ext cx="9583487" cy="2000529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F2298789-A6AA-117F-626C-8C9B5D3D5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D189379-9429-6759-CA39-964264562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D998DDD-CE44-2F03-BE5A-0808EF72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15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93772073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01790-B749-D57E-ED2C-F9F03BFE8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0BB6-E53A-B949-B7C2-47092CCEF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8A9F-1652-7F7B-ACE0-F5227A8FC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C42C9E4-B052-7D0A-CEB8-087DD03BC49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174EAC7-5374-5FC6-56CC-02F1F06D4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441" y="1528619"/>
            <a:ext cx="9939117" cy="4078736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E303B08-8095-EB34-C95F-699A8BDF7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27B765DE-CC32-BA36-87D6-11C19D900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AFC4317-2E4A-3058-9378-5B181E1D8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16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52672114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B312C-E2F1-6CC7-84CF-B03E2A70D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6028C-C85B-1BB3-0887-AAC354B28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A8C13-0877-5AFE-18FB-D3F43CE366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123B71F-6192-647D-1968-ECFEC4B90B63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AB6CFE-06BA-4C75-1683-C0ED5513F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892" y="1445420"/>
            <a:ext cx="10260514" cy="4132907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2582EC02-EB9B-0470-7B28-D5DF5E664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3B0E4AD-B6ED-954D-3C65-63C93C38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78EF1F2-E19A-D722-AB17-1559A3C07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17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5961388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92429-79E2-DD1F-A1EF-0901CDD17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00603-DDDB-B1F9-DDB5-EEEB725910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Proof of Concept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F9809-EA14-4046-3708-F273C0428A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Current Status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BA92ADF0-C27E-9860-EE84-8D541D34D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B4DA6DE-A74D-4464-8EF8-23080747E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FEC606B-7F6D-4DE1-D21B-BC0098CC3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18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2191460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E99D4-A61B-8C95-F959-90C90CB88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8E347-587D-5485-BA57-E7A208E8E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of Concept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F49B0B3-3276-8E77-29C2-EFF0FDD13C17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Current Status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74DCABA3-582D-C956-BD09-426C434A9B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CC1965E0-022B-59F4-C41A-8D2442763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556" y="1650623"/>
            <a:ext cx="10961077" cy="877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PoC Goal: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Have a working algorithm that emulates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Dgemm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precision (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$\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approx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10^{-15}$) before Christmas.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Current Status: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 have successfully implemented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Method 1 (the 25-call "Penta-Single" method)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in a complete CUDA script.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3B26FDB-40B5-21BF-0B59-E32449E36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394" y="2807131"/>
            <a:ext cx="8935697" cy="3258005"/>
          </a:xfrm>
          <a:prstGeom prst="rect">
            <a:avLst/>
          </a:prstGeom>
        </p:spPr>
      </p:pic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9173F9F-118D-F5D5-D6C4-59E051238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D69AC07C-6022-8197-C438-6D1362520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E284D57-8824-3ABA-7FB1-FE19B7DBA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19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51383442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AC8EF-7D59-0124-E6A3-2C1B2620F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02657-D121-198B-4633-1D76B504CE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Issues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2D21F-B97B-7DD8-260C-B43F128E83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My current blockers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B298921-2264-0412-3C9C-0C728FE69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5C708DA-A8FD-764F-F94A-9F982A121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5ECE3BD-EFFD-A507-28E5-722F56095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20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9698980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A1D4C-8D9B-7FE9-AB6C-630C947F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E41FF-208E-8F63-0911-C6CEB50EB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94A2CFF-4B18-1DA3-7B52-CF5D1567C0D2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My current blockers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200C5237-9A07-967D-C031-126ED380CAD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F6C74316-78DA-85EE-D8D5-2B8B803AF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800" y="1111105"/>
            <a:ext cx="11094126" cy="3924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Blocker: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PoC is currently failing its accuracy goal.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Symptom: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max relative error is stuck 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10^-7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Analysis: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This is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exactly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machine epsilon for a single-precision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float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Uncertainties: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Is the split kernel wrong?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(Unlikely, as unit tests pass, but is it numerically unstable?)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Is the "full-fill" (Method 1) idea fundamentally flawed?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Does the $\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approx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10^{-7}$ error from the $A_1 B_1$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Sgemm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call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irreversibly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pollute the result, making it impossible to add back the smaller correction terms?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AE02A24-0509-C8A5-CC7E-54F4BB087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97" y="2390630"/>
            <a:ext cx="8916644" cy="1038370"/>
          </a:xfrm>
          <a:prstGeom prst="rect">
            <a:avLst/>
          </a:prstGeom>
        </p:spPr>
      </p:pic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99D6BC1-4BD2-D901-2BDB-C17384C33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14344F4-C37B-79A3-EEDE-9ABF7A68B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Project LRC001 – Paul Kallarackel - 02029025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2BD19D2A-360D-2F87-2323-ACE971450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21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5511726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2D868-BEF3-10F5-3E89-6111B77B4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B8D30-56A8-C276-9F0B-3D2E2DD0A5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7A05F-3F8E-1E0B-E619-C8F54EFA5A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Solving blockers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63882EB-3F50-E6E1-4C73-E250DDE25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E045517-DB7D-825F-30C7-0AAAD3CEE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A5799AA-08A6-8384-5E51-640EA9FA8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22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59437374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0E540-3549-BA69-7549-7A9B75A70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619AC-F626-9514-BC27-6F9A49E38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9BA4930-9ED4-B14A-B889-B458C2F24B0C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Solving Blockers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74B39D70-47A6-9D8E-2E63-58C3E03AEB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4DA89D-8732-B3A0-15AD-D4093487A448}"/>
              </a:ext>
            </a:extLst>
          </p:cNvPr>
          <p:cNvSpPr txBox="1"/>
          <p:nvPr/>
        </p:nvSpPr>
        <p:spPr>
          <a:xfrm>
            <a:off x="568518" y="1550504"/>
            <a:ext cx="11255072" cy="43652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endParaRPr lang="en-GB" sz="1600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91E58-FBD9-2E26-AF32-93E759473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9079" y="1145897"/>
            <a:ext cx="6325063" cy="5174480"/>
          </a:xfrm>
          <a:prstGeom prst="rect">
            <a:avLst/>
          </a:prstGeom>
        </p:spPr>
      </p:pic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E101FAAA-19ED-50E2-D649-926573C88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9B5EA79B-48D4-2809-BC4D-F8E286EFE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A465CE3F-918F-128C-39AC-2FE0DD269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23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3528004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779ED-26E0-2246-E9C7-4C994ECA9F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889A0D-F0EF-B927-B803-3366B6CEC4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936109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Sans font theme">
      <a:majorFont>
        <a:latin typeface="Imperial Sans Text Semibold"/>
        <a:ea typeface=""/>
        <a:cs typeface=""/>
      </a:majorFont>
      <a:minorFont>
        <a:latin typeface="Imperial Sans 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Imperial_PowerPoint_16_9_simplified template" id="{AC92FECB-A8A0-E646-A419-0F8545DB9962}" vid="{4B3D5CAF-CC99-E94B-B0A1-08E0379C17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4BBFDCE9C65C45B257CD4C89E0CC4C" ma:contentTypeVersion="3" ma:contentTypeDescription="Create a new document." ma:contentTypeScope="" ma:versionID="024eea61a99e276f29bb4de829abc010">
  <xsd:schema xmlns:xsd="http://www.w3.org/2001/XMLSchema" xmlns:xs="http://www.w3.org/2001/XMLSchema" xmlns:p="http://schemas.microsoft.com/office/2006/metadata/properties" xmlns:ns2="58ccc919-a085-4c55-a8d0-fc57436857d8" targetNamespace="http://schemas.microsoft.com/office/2006/metadata/properties" ma:root="true" ma:fieldsID="6c52aa458bad14d68220b81cc9789cb2" ns2:_="">
    <xsd:import namespace="58ccc919-a085-4c55-a8d0-fc57436857d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ccc919-a085-4c55-a8d0-fc57436857d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2739277-F501-4DD3-AC3E-E62D288923D9}">
  <ds:schemaRefs>
    <ds:schemaRef ds:uri="http://schemas.microsoft.com/office/infopath/2007/PartnerControls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purl.org/dc/dcmitype/"/>
    <ds:schemaRef ds:uri="http://purl.org/dc/elements/1.1/"/>
    <ds:schemaRef ds:uri="http://schemas.openxmlformats.org/package/2006/metadata/core-properties"/>
    <ds:schemaRef ds:uri="58ccc919-a085-4c55-a8d0-fc57436857d8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4B2545B1-F5A6-481C-9ECA-608EE6E0B99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D65134-D972-43CF-B603-94E0F8ABB0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8ccc919-a085-4c55-a8d0-fc57436857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Imperial_Sans_PowerPoint_16_9_simplified template</Template>
  <TotalTime>1261</TotalTime>
  <Words>1007</Words>
  <Application>Microsoft Office PowerPoint</Application>
  <PresentationFormat>Widescreen</PresentationFormat>
  <Paragraphs>217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Arial</vt:lpstr>
      <vt:lpstr>Calibri</vt:lpstr>
      <vt:lpstr>Courier New</vt:lpstr>
      <vt:lpstr>Google Sans Text</vt:lpstr>
      <vt:lpstr>Imperial Sans Text</vt:lpstr>
      <vt:lpstr>Imperial Sans Text Medium</vt:lpstr>
      <vt:lpstr>Imperial Sans Text Semibold</vt:lpstr>
      <vt:lpstr>Inter Medium</vt:lpstr>
      <vt:lpstr>ICL PPT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for listening! Any Questions?</vt:lpstr>
      <vt:lpstr>PowerPoint Presentation</vt:lpstr>
      <vt:lpstr>Problem</vt:lpstr>
      <vt:lpstr>Problem</vt:lpstr>
      <vt:lpstr>Current Literature </vt:lpstr>
      <vt:lpstr>Current Literature</vt:lpstr>
      <vt:lpstr>Our Approach</vt:lpstr>
      <vt:lpstr>Our Approach</vt:lpstr>
      <vt:lpstr>Our Approach</vt:lpstr>
      <vt:lpstr>Our Approach</vt:lpstr>
      <vt:lpstr>Proof of Concept</vt:lpstr>
      <vt:lpstr>Proof of Concept</vt:lpstr>
      <vt:lpstr>Issues</vt:lpstr>
      <vt:lpstr>Issues</vt:lpstr>
      <vt:lpstr>Next Steps</vt:lpstr>
      <vt:lpstr>Next Steps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Kallarackel, Paul</dc:creator>
  <cp:lastModifiedBy>Kallarackel, Paul</cp:lastModifiedBy>
  <cp:revision>26</cp:revision>
  <dcterms:created xsi:type="dcterms:W3CDTF">2025-11-16T21:29:59Z</dcterms:created>
  <dcterms:modified xsi:type="dcterms:W3CDTF">2026-03-07T16:14:52Z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0x010100A04BBFDCE9C65C45B257CD4C89E0CC4C</vt:lpwstr>
  </property>
  <property fmtid="{D5CDD505-2E9C-101B-9397-08002B2CF9AE}" pid="3" name="MediaServiceImageTags">
    <vt:lpwstr/>
  </property>
</Properties>
</file>